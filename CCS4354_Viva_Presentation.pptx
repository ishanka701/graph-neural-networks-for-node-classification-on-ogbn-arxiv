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48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" name="Google Shape;17;p3"/>
          <p:cNvCxnSpPr/>
          <p:nvPr/>
        </p:nvCxnSpPr>
        <p:spPr>
          <a:xfrm rot="10800000" flipH="1">
            <a:off x="9692640" y="4572000"/>
            <a:ext cx="914400" cy="54864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10607040" y="4572000"/>
            <a:ext cx="640080" cy="82296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3"/>
          <p:cNvCxnSpPr/>
          <p:nvPr/>
        </p:nvCxnSpPr>
        <p:spPr>
          <a:xfrm flipH="1">
            <a:off x="10241280" y="4572000"/>
            <a:ext cx="365760" cy="137160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0;p3"/>
          <p:cNvCxnSpPr/>
          <p:nvPr/>
        </p:nvCxnSpPr>
        <p:spPr>
          <a:xfrm flipH="1">
            <a:off x="9418320" y="5943600"/>
            <a:ext cx="822960" cy="9144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21;p3"/>
          <p:cNvCxnSpPr/>
          <p:nvPr/>
        </p:nvCxnSpPr>
        <p:spPr>
          <a:xfrm rot="10800000" flipH="1">
            <a:off x="10607040" y="4297680"/>
            <a:ext cx="822960" cy="27432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3"/>
          <p:cNvCxnSpPr/>
          <p:nvPr/>
        </p:nvCxnSpPr>
        <p:spPr>
          <a:xfrm rot="10800000" flipH="1">
            <a:off x="11247120" y="4297680"/>
            <a:ext cx="182880" cy="109728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3"/>
          <p:cNvSpPr/>
          <p:nvPr/>
        </p:nvSpPr>
        <p:spPr>
          <a:xfrm>
            <a:off x="9610344" y="503834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0524744" y="448970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1164824" y="531266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158984" y="586130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9336024" y="595274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1347704" y="421538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822960" y="1920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400"/>
              <a:buFont typeface="Calibri"/>
              <a:buNone/>
            </a:pPr>
            <a:r>
              <a:rPr lang="en-US" sz="32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CCS4354 · TENSORS AND GRAPHS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22960" y="2331720"/>
            <a:ext cx="96012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Neural Networks for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 Classification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4CC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AAB4CC"/>
                </a:solidFill>
                <a:latin typeface="Calibri"/>
                <a:ea typeface="Calibri"/>
                <a:cs typeface="Calibri"/>
                <a:sym typeface="Calibri"/>
              </a:rPr>
              <a:t>A comparative study of GCN and GAT on the OGBN-Arxiv citation network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3"/>
          <p:cNvCxnSpPr>
            <a:cxnSpLocks/>
          </p:cNvCxnSpPr>
          <p:nvPr/>
        </p:nvCxnSpPr>
        <p:spPr>
          <a:xfrm flipV="1">
            <a:off x="822960" y="4379976"/>
            <a:ext cx="6142616" cy="54864"/>
          </a:xfrm>
          <a:prstGeom prst="straightConnector1">
            <a:avLst/>
          </a:prstGeom>
          <a:noFill/>
          <a:ln w="25400" cap="flat" cmpd="sng">
            <a:solidFill>
              <a:srgbClr val="2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3"/>
          <p:cNvSpPr/>
          <p:nvPr/>
        </p:nvSpPr>
        <p:spPr>
          <a:xfrm>
            <a:off x="822950" y="5120622"/>
            <a:ext cx="73152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Gruop</a:t>
            </a:r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Members-23UG1-0061,23UG1-0095,23UG1-0054,23UG1-0095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92AC"/>
              </a:buClr>
              <a:buSzPts val="1100"/>
            </a:pPr>
            <a:r>
              <a:rPr lang="en-US" sz="1100" b="0" i="0" u="none" strike="noStrike" cap="none" dirty="0">
                <a:solidFill>
                  <a:srgbClr val="8892AC"/>
                </a:solidFill>
                <a:latin typeface="Calibri"/>
                <a:ea typeface="Calibri"/>
                <a:cs typeface="Calibri"/>
                <a:sym typeface="Calibri"/>
              </a:rPr>
              <a:t>Supervised by [Dr. </a:t>
            </a:r>
            <a:r>
              <a:rPr lang="en-US" sz="1100" b="0" i="0" u="none" strike="noStrike" cap="none" dirty="0" err="1">
                <a:solidFill>
                  <a:srgbClr val="8892AC"/>
                </a:solidFill>
                <a:latin typeface="Calibri"/>
                <a:ea typeface="Calibri"/>
                <a:cs typeface="Calibri"/>
                <a:sym typeface="Calibri"/>
              </a:rPr>
              <a:t>Chameera</a:t>
            </a:r>
            <a:r>
              <a:rPr lang="en-US" sz="1100" b="0" i="0" u="none" strike="noStrike" cap="none" dirty="0">
                <a:solidFill>
                  <a:srgbClr val="8892AC"/>
                </a:solidFill>
                <a:latin typeface="Calibri"/>
                <a:ea typeface="Calibri"/>
                <a:cs typeface="Calibri"/>
                <a:sym typeface="Calibri"/>
              </a:rPr>
              <a:t> De Silva ] ·  SLTC Research University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What we'll cover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1920240"/>
            <a:ext cx="2651760" cy="3566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777240" y="2194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77240" y="288036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Dataset &amp; Tensor Foundations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77240" y="4069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OGBN-Arxiv structure and core tensor operations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456432" y="1920240"/>
            <a:ext cx="2651760" cy="3566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685032" y="2194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685032" y="288036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Graph Representation &amp; Preparation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685032" y="4069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Structural analysis and preprocessing decisions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364224" y="1920240"/>
            <a:ext cx="2651760" cy="3566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592824" y="2194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592824" y="288036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Model Architecture &amp; Training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592824" y="4069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GCN and GAT design, loss, and optimization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9272016" y="1920240"/>
            <a:ext cx="2651760" cy="3566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9500616" y="2194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9500616" y="288036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Results &amp; Explainability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500616" y="4069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Evaluation metrics, embeddings, and attention analysis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The OGBN-Arxiv Citation Network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48640" y="141732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Every node is a research paper; every edge is a citation. Our task: predict each paper's subject category using its content and its place in the citation graph.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" y="2514600"/>
            <a:ext cx="2514600" cy="1554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31520" y="274320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169,343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31520" y="33832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Nodes (papers)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291840" y="2514600"/>
            <a:ext cx="2514600" cy="1554480"/>
          </a:xfrm>
          <a:prstGeom prst="rect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474720" y="274320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1,166,243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474720" y="33832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Edges (citations)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035040" y="2514600"/>
            <a:ext cx="2514600" cy="1554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217920" y="274320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128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217920" y="33832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Feature dimensions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8778240" y="2514600"/>
            <a:ext cx="2514600" cy="1554480"/>
          </a:xfrm>
          <a:prstGeom prst="rect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8961120" y="274320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8961120" y="33832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Subject categories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8640" y="43434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Task: Node Classification  -&gt;  predicting a paper's subject category (e.g. AI, Vision, Databases) from its features and citation neighbors.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48640" y="49377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Graph density: 0.000041 — extremely sparse, typical of real-world citation networks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Ishanka · FOUNDATIONS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Tensors: The Building Blocks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172821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804672" y="161848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Creation &amp; Indexing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804672" y="196596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Building tensors and slicing them — how node feature rows are accessed.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989320" y="172821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245352" y="161848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Reshaping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245352" y="196596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Rearranging dimensions without changing the underlying data.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48640" y="282549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04672" y="271576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Matrix Multiplication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804672" y="306324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The core operation behind every graph convolution layer.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989320" y="282549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6245352" y="271576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Broadcasting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245352" y="306324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Applying operations across mismatched shapes efficiently.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48640" y="392277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804672" y="381304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04672" y="416052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Sum / mean along a dimension — exactly how a GNN combines neighbor features.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989320" y="392277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245352" y="381304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GPU Acceleration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245352" y="416052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Moving computation to CUDA for training at graph scale.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Kalana · GRAPH STRUCTURE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Representing &amp; Analyzing the Graph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edge_index format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48640" y="1920240"/>
            <a:ext cx="5120640" cy="1051560"/>
          </a:xfrm>
          <a:prstGeom prst="rect">
            <a:avLst/>
          </a:prstGeom>
          <a:solidFill>
            <a:srgbClr val="111C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777240" y="205740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E8D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9FE8DA"/>
                </a:solidFill>
                <a:latin typeface="Consolas"/>
                <a:ea typeface="Consolas"/>
                <a:cs typeface="Consolas"/>
                <a:sym typeface="Consolas"/>
              </a:rPr>
              <a:t>edge_index[0] = [ 12, 45, 12, 90, ... ]   (source)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E8D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9FE8DA"/>
                </a:solidFill>
                <a:latin typeface="Consolas"/>
                <a:ea typeface="Consolas"/>
                <a:cs typeface="Consolas"/>
                <a:sym typeface="Consolas"/>
              </a:rPr>
              <a:t>edge_index[1] = [ 45, 88, 90,  3, ... ]   (target)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48640" y="30632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 2 x N tensor — each column is one citation: paper A cites paper B.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508760"/>
            <a:ext cx="562356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548640" y="3703320"/>
            <a:ext cx="5212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Density: 0.000041 - very sparse, as expected for citation graphs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Right-skewed degree distribution - a small number of highly-cited hub papers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Graph is largely one connected structure, with a few small isolated clusters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Kalana · PREPARATION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 dirty="0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Preparing the Data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548640" y="1691640"/>
            <a:ext cx="342900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3E7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822960" y="196596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Official OGB Split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822960" y="2606040"/>
            <a:ext cx="28803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Train / validation / test split by publication year - older papers train, newer papers test. Keeps results comparable to the OGB leaderboard and mirrors a realistic deployment scenario.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251960" y="1691640"/>
            <a:ext cx="342900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3E7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4526280" y="196596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Feature Normalization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526280" y="2606040"/>
            <a:ext cx="28803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Feature magnitudes were already small and consistent across the 128 dimensions, so no additional normalization was applied - preserving the original semantic signal.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7955280" y="1691640"/>
            <a:ext cx="342900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3E7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8229600" y="196596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Class Handling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8229600" y="2606040"/>
            <a:ext cx="28803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40 categories of unequal size 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20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addressed at evaluation time using macro-averaged metrics rather than relying on raw accuracy alone.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Kosala · ARCHITECTURE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Two Architectures, Two Strategies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548640" y="1691640"/>
            <a:ext cx="5166360" cy="3931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822960" y="19659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GCN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822960" y="2468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2D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FB2D8"/>
                </a:solidFill>
                <a:latin typeface="Calibri"/>
                <a:ea typeface="Calibri"/>
                <a:cs typeface="Calibri"/>
                <a:sym typeface="Calibri"/>
              </a:rPr>
              <a:t>Graph Convolutional Network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822960" y="306324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2606040" y="306324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Fixed, degree-normalized average of all neighbors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822960" y="3502152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Layers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2606040" y="350215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822960" y="3941064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Hidden dim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2606040" y="3941064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256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822960" y="4379976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2606040" y="4379976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ReLU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822960" y="481888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Dropout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2606040" y="481888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989320" y="1691640"/>
            <a:ext cx="5166360" cy="3931920"/>
          </a:xfrm>
          <a:prstGeom prst="rect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6263640" y="19659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263640" y="2468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FF3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FF3F0"/>
                </a:solidFill>
                <a:latin typeface="Calibri"/>
                <a:ea typeface="Calibri"/>
                <a:cs typeface="Calibri"/>
                <a:sym typeface="Calibri"/>
              </a:rPr>
              <a:t>Graph Attention Network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263640" y="30632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8092440" y="306324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BF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EAFBF8"/>
                </a:solidFill>
                <a:latin typeface="Calibri"/>
                <a:ea typeface="Calibri"/>
                <a:cs typeface="Calibri"/>
                <a:sym typeface="Calibri"/>
              </a:rPr>
              <a:t>Learned attention weights per neighbor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263640" y="350215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Attention heads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092440" y="350215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BF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EAFBF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263640" y="394106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Hidden dim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8092440" y="3941064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BF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EAFBF8"/>
                </a:solidFill>
                <a:latin typeface="Calibri"/>
                <a:ea typeface="Calibri"/>
                <a:cs typeface="Calibri"/>
                <a:sym typeface="Calibri"/>
              </a:rPr>
              <a:t>32 per head (256 effective)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263640" y="4379976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092440" y="4379976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BF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EAFBF8"/>
                </a:solidFill>
                <a:latin typeface="Calibri"/>
                <a:ea typeface="Calibri"/>
                <a:cs typeface="Calibri"/>
                <a:sym typeface="Calibri"/>
              </a:rPr>
              <a:t>ELU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263640" y="481888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Dropout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8092440" y="481888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BF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EAFBF8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Kosala · TRAINING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Training &amp; Optimization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554480"/>
            <a:ext cx="576072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/>
          <p:nvPr/>
        </p:nvSpPr>
        <p:spPr>
          <a:xfrm>
            <a:off x="6629400" y="1554480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Loss &amp; Optimizer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6629400" y="1965960"/>
            <a:ext cx="49834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CrossEntropyLoss — standard for multi-class classification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Adam optimizer — adapts learning rate per parameter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GCN: lr = 0.01   |   GAT: lr = 0.005 (lower, for attention stability)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weight_decay = 5e-4 for L2 regularization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629400" y="3794760"/>
            <a:ext cx="4983480" cy="960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6858000" y="39136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Hyperparameter sweep (GCN, learning rate)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6858000" y="42245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0.001 -&gt; underfit  ·  0.01 -&gt; best  ·  0.05 -&gt; unstable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Hiruni · RESULTS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554480"/>
            <a:ext cx="6583680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/>
          <p:nvPr/>
        </p:nvSpPr>
        <p:spPr>
          <a:xfrm>
            <a:off x="7406640" y="16002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Macro-averaged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7406640" y="1965960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Precision, recall, and F1 use macro-averaging — treating all 40 categories equally, regardless of size, for a fairer picture on an imbalanced label set.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7406640" y="3108960"/>
            <a:ext cx="4206240" cy="2148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7635240" y="32918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7635240" y="3611880"/>
            <a:ext cx="37490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GCN edges out GAT on this benchmark — its simpler, fixed aggregation generalizes slightly better here, while GAT's added attention parameters likely need more epochs or tuning to pay off fully.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Hiruni · EXPLAINABILITY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Why Does the Model Decide This?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548640" y="1691640"/>
            <a:ext cx="5394960" cy="3794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t-SNE Embedding Visualization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822960" y="2331720"/>
            <a:ext cx="4846320" cy="2651760"/>
          </a:xfrm>
          <a:prstGeom prst="rect">
            <a:avLst/>
          </a:prstGeom>
          <a:solidFill>
            <a:srgbClr val="FBFCFD"/>
          </a:solidFill>
          <a:ln w="12700" cap="flat" cmpd="sng">
            <a:solidFill>
              <a:srgbClr val="E3E7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1554480" y="3246120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1727370" y="3156107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1868258" y="2930373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1951063" y="2680023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1960458" y="2528277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1894703" y="2549826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1765972" y="2734061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1598092" y="2990305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1422139" y="3192434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1270683" y="3240962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1171760" y="3112003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1143681" y="2869031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2929428" y="3466601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2990795" y="3215762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2976710" y="2991117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2889779" y="2903234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2746095" y="2995370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2572255" y="322217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2400437" y="3472018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2262445" y="362192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2183824" y="3598115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2179126" y="341230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2249221" y="3155952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2381134" y="2955230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3986038" y="3505390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3879460" y="3324345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3723352" y="3307326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3546610" y="3462711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3381949" y="3714019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3259851" y="3937558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3202915" y="4023303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3221681" y="3929050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3312675" y="3701191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3459055" y="3451877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3633723" y="3303818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3804348" y="3329890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4698648" y="3684120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4522114" y="3739321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4367508" y="3945576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4263450" y="4201368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4229201" y="4380796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4271101" y="4395548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4381394" y="4238362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4539664" y="3986604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4716614" y="3764190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4879490" y="3680589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4998142" y="3776950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5050607" y="4005845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822960" y="50292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Clusters by category emerge in embedding space — even though clustering was never a direct training objective.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6217920" y="1691640"/>
            <a:ext cx="5394960" cy="3794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GAT Attention Weights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2240" y="2331720"/>
            <a:ext cx="484632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2"/>
          <p:cNvSpPr/>
          <p:nvPr/>
        </p:nvSpPr>
        <p:spPr>
          <a:xfrm>
            <a:off x="6492240" y="50292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Not all citation neighbors are equal — GAT learns to weight some far more heavily than others.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DELIVERY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Intelligence Dashboard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4C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AAB4CC"/>
                </a:solidFill>
                <a:latin typeface="Calibri"/>
                <a:ea typeface="Calibri"/>
                <a:cs typeface="Calibri"/>
                <a:sym typeface="Calibri"/>
              </a:rPr>
              <a:t>An interactive Streamlit app bringing every result into one place.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548640" y="217627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822960" y="21031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graph statistics — nodes, edges, density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548640" y="277063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822960" y="26974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comparison table &amp; chart (GCN vs GAT)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48640" y="336499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822960" y="32918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Node-by-node prediction explorer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48640" y="395935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822960" y="38862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t-SNE embedding visualization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6400800" y="2011680"/>
            <a:ext cx="521208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6675120" y="22402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11C33"/>
                </a:solidFill>
                <a:latin typeface="Consolas"/>
                <a:ea typeface="Consolas"/>
                <a:cs typeface="Consolas"/>
                <a:sym typeface="Consolas"/>
              </a:rPr>
              <a:t>streamlit run app.py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6675120" y="2697480"/>
            <a:ext cx="4663440" cy="502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6812280" y="283464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169,343 nodes   ·   1,166,243 edges   ·   density 0.000041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6675120" y="3337560"/>
            <a:ext cx="4663440" cy="1554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6812280" y="3474720"/>
            <a:ext cx="43891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1F2B"/>
                </a:solidFill>
                <a:latin typeface="Consolas"/>
                <a:ea typeface="Consolas"/>
                <a:cs typeface="Consolas"/>
                <a:sym typeface="Consolas"/>
              </a:rPr>
              <a:t>Model     Accuracy   F1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1F2B"/>
                </a:solidFill>
                <a:latin typeface="Consolas"/>
                <a:ea typeface="Consolas"/>
                <a:cs typeface="Consolas"/>
                <a:sym typeface="Consolas"/>
              </a:rPr>
              <a:t>GCN         52.5%     28.4%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1F2B"/>
                </a:solidFill>
                <a:latin typeface="Consolas"/>
                <a:ea typeface="Consolas"/>
                <a:cs typeface="Consolas"/>
                <a:sym typeface="Consolas"/>
              </a:rPr>
              <a:t>GAT         51.3%     22.4%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6675120" y="5029200"/>
            <a:ext cx="466344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6812280" y="52578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8A5A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F8A5A"/>
                </a:solidFill>
                <a:latin typeface="Calibri"/>
                <a:ea typeface="Calibri"/>
                <a:cs typeface="Calibri"/>
                <a:sym typeface="Calibri"/>
              </a:rPr>
              <a:t>[OK] Node #0 — Correct prediction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548640" y="1600200"/>
            <a:ext cx="53949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Both models classify papers well above the ~2.5% random baseline for 40 classes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GCN's simpler, fixed aggregation slightly outperformed GAT on this benchmark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Embedding and attention analysis confirm the model's decisions are structurally meaningful, not a black box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6263640" y="1600200"/>
            <a:ext cx="5349240" cy="3566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6537960" y="18288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6537960" y="228600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Deeper hyperparameter search across layers and dropout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DCE3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A third architecture (GIN) for the bonus marks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DCE3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GNNExplainer-based subgraph explanations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DCE3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Larger-scale attention analysis across many nodes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Individual Contributions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548640" y="1691640"/>
            <a:ext cx="260604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777240" y="26517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Ishanka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777240" y="3154680"/>
            <a:ext cx="2148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Tensor fundamentals notebook, dataset setup, presentation coordination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3383280" y="1691640"/>
            <a:ext cx="260604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3657600" y="2011680"/>
            <a:ext cx="502920" cy="502920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365760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3611880" y="26517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Kalana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3611880" y="3154680"/>
            <a:ext cx="2148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Graph representation &amp; analysis, data preparation, split justification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6217920" y="1691640"/>
            <a:ext cx="260604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6446520" y="26517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Kosala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6446520" y="3154680"/>
            <a:ext cx="2148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GNN architecture design (GCN &amp; GAT), training loop, hyperparameter tuning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9052560" y="1691640"/>
            <a:ext cx="260604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9326880" y="2011680"/>
            <a:ext cx="502920" cy="502920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932688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9281160" y="26517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Hiruni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9281160" y="3154680"/>
            <a:ext cx="2148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Model evaluation, explainability analysis, Streamlit dashboard, report compilation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5" name="Google Shape;335;p16"/>
          <p:cNvCxnSpPr/>
          <p:nvPr/>
        </p:nvCxnSpPr>
        <p:spPr>
          <a:xfrm rot="10800000" flipH="1">
            <a:off x="1097280" y="731520"/>
            <a:ext cx="822960" cy="36576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6" name="Google Shape;336;p16"/>
          <p:cNvCxnSpPr/>
          <p:nvPr/>
        </p:nvCxnSpPr>
        <p:spPr>
          <a:xfrm>
            <a:off x="1920240" y="731520"/>
            <a:ext cx="457200" cy="82296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7" name="Google Shape;337;p16"/>
          <p:cNvCxnSpPr/>
          <p:nvPr/>
        </p:nvCxnSpPr>
        <p:spPr>
          <a:xfrm flipH="1">
            <a:off x="1371600" y="731520"/>
            <a:ext cx="548640" cy="128016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8" name="Google Shape;338;p16"/>
          <p:cNvCxnSpPr/>
          <p:nvPr/>
        </p:nvCxnSpPr>
        <p:spPr>
          <a:xfrm rot="10800000">
            <a:off x="640080" y="1737360"/>
            <a:ext cx="731520" cy="27432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9" name="Google Shape;339;p16"/>
          <p:cNvCxnSpPr/>
          <p:nvPr/>
        </p:nvCxnSpPr>
        <p:spPr>
          <a:xfrm rot="10800000" flipH="1">
            <a:off x="1920240" y="457200"/>
            <a:ext cx="731520" cy="27432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0" name="Google Shape;340;p16"/>
          <p:cNvCxnSpPr/>
          <p:nvPr/>
        </p:nvCxnSpPr>
        <p:spPr>
          <a:xfrm rot="10800000" flipH="1">
            <a:off x="2377440" y="457200"/>
            <a:ext cx="274320" cy="109728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1" name="Google Shape;341;p16"/>
          <p:cNvSpPr/>
          <p:nvPr/>
        </p:nvSpPr>
        <p:spPr>
          <a:xfrm>
            <a:off x="1014984" y="101498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1837944" y="64922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2295144" y="147218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1289304" y="192938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6"/>
          <p:cNvSpPr/>
          <p:nvPr/>
        </p:nvSpPr>
        <p:spPr>
          <a:xfrm>
            <a:off x="557784" y="165506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2569464" y="37490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822960" y="2743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822960" y="3611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2AC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8892AC"/>
                </a:solidFill>
                <a:latin typeface="Calibri"/>
                <a:ea typeface="Calibri"/>
                <a:cs typeface="Calibri"/>
                <a:sym typeface="Calibri"/>
              </a:rPr>
              <a:t>CCS4354 Tensors and Graphs  ·  SLTC Research University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1891</TotalTime>
  <Words>950</Words>
  <Application>Microsoft Office PowerPoint</Application>
  <PresentationFormat>Widescreen</PresentationFormat>
  <Paragraphs>177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ISHANKA</dc:creator>
  <cp:lastModifiedBy>Ishanka Office</cp:lastModifiedBy>
  <cp:revision>4</cp:revision>
  <dcterms:modified xsi:type="dcterms:W3CDTF">2026-08-18T15:10:24Z</dcterms:modified>
</cp:coreProperties>
</file>