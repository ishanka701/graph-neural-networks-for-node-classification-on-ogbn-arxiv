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48" y="8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" name="Google Shape;3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5" name="Google Shape;17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7" name="Google Shape;267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2" name="Google Shape;292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4" name="Google Shape;304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2" name="Google Shape;332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7" name="Google Shape;17;p3"/>
          <p:cNvCxnSpPr/>
          <p:nvPr/>
        </p:nvCxnSpPr>
        <p:spPr>
          <a:xfrm rot="10800000" flipH="1">
            <a:off x="9692640" y="4572000"/>
            <a:ext cx="914400" cy="548640"/>
          </a:xfrm>
          <a:prstGeom prst="straightConnector1">
            <a:avLst/>
          </a:prstGeom>
          <a:noFill/>
          <a:ln w="19050" cap="flat" cmpd="sng">
            <a:solidFill>
              <a:srgbClr val="3C4E7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" name="Google Shape;18;p3"/>
          <p:cNvCxnSpPr/>
          <p:nvPr/>
        </p:nvCxnSpPr>
        <p:spPr>
          <a:xfrm>
            <a:off x="10607040" y="4572000"/>
            <a:ext cx="640080" cy="822960"/>
          </a:xfrm>
          <a:prstGeom prst="straightConnector1">
            <a:avLst/>
          </a:prstGeom>
          <a:noFill/>
          <a:ln w="19050" cap="flat" cmpd="sng">
            <a:solidFill>
              <a:srgbClr val="3C4E7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" name="Google Shape;19;p3"/>
          <p:cNvCxnSpPr/>
          <p:nvPr/>
        </p:nvCxnSpPr>
        <p:spPr>
          <a:xfrm flipH="1">
            <a:off x="10241280" y="4572000"/>
            <a:ext cx="365760" cy="1371600"/>
          </a:xfrm>
          <a:prstGeom prst="straightConnector1">
            <a:avLst/>
          </a:prstGeom>
          <a:noFill/>
          <a:ln w="19050" cap="flat" cmpd="sng">
            <a:solidFill>
              <a:srgbClr val="3C4E7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" name="Google Shape;20;p3"/>
          <p:cNvCxnSpPr/>
          <p:nvPr/>
        </p:nvCxnSpPr>
        <p:spPr>
          <a:xfrm flipH="1">
            <a:off x="9418320" y="5943600"/>
            <a:ext cx="822960" cy="91440"/>
          </a:xfrm>
          <a:prstGeom prst="straightConnector1">
            <a:avLst/>
          </a:prstGeom>
          <a:noFill/>
          <a:ln w="19050" cap="flat" cmpd="sng">
            <a:solidFill>
              <a:srgbClr val="3C4E7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" name="Google Shape;21;p3"/>
          <p:cNvCxnSpPr/>
          <p:nvPr/>
        </p:nvCxnSpPr>
        <p:spPr>
          <a:xfrm rot="10800000" flipH="1">
            <a:off x="10607040" y="4297680"/>
            <a:ext cx="822960" cy="274320"/>
          </a:xfrm>
          <a:prstGeom prst="straightConnector1">
            <a:avLst/>
          </a:prstGeom>
          <a:noFill/>
          <a:ln w="19050" cap="flat" cmpd="sng">
            <a:solidFill>
              <a:srgbClr val="3C4E7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" name="Google Shape;22;p3"/>
          <p:cNvCxnSpPr/>
          <p:nvPr/>
        </p:nvCxnSpPr>
        <p:spPr>
          <a:xfrm rot="10800000" flipH="1">
            <a:off x="11247120" y="4297680"/>
            <a:ext cx="182880" cy="1097280"/>
          </a:xfrm>
          <a:prstGeom prst="straightConnector1">
            <a:avLst/>
          </a:prstGeom>
          <a:noFill/>
          <a:ln w="19050" cap="flat" cmpd="sng">
            <a:solidFill>
              <a:srgbClr val="3C4E7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3" name="Google Shape;23;p3"/>
          <p:cNvSpPr/>
          <p:nvPr/>
        </p:nvSpPr>
        <p:spPr>
          <a:xfrm>
            <a:off x="9610344" y="5038344"/>
            <a:ext cx="164592" cy="164592"/>
          </a:xfrm>
          <a:prstGeom prst="ellipse">
            <a:avLst/>
          </a:prstGeom>
          <a:solidFill>
            <a:srgbClr val="2E9E9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10524744" y="4489704"/>
            <a:ext cx="164592" cy="164592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11164824" y="5312664"/>
            <a:ext cx="164592" cy="164592"/>
          </a:xfrm>
          <a:prstGeom prst="ellipse">
            <a:avLst/>
          </a:prstGeom>
          <a:solidFill>
            <a:srgbClr val="2E9E9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10158984" y="5861304"/>
            <a:ext cx="164592" cy="164592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9336024" y="5952744"/>
            <a:ext cx="164592" cy="164592"/>
          </a:xfrm>
          <a:prstGeom prst="ellipse">
            <a:avLst/>
          </a:prstGeom>
          <a:solidFill>
            <a:srgbClr val="2E9E9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11347704" y="4215384"/>
            <a:ext cx="164592" cy="164592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822960" y="19202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9E9E"/>
              </a:buClr>
              <a:buSzPts val="1400"/>
              <a:buFont typeface="Calibri"/>
              <a:buNone/>
            </a:pPr>
            <a:r>
              <a:rPr lang="en-US" sz="3200" b="1" i="0" u="none" strike="noStrike" cap="none" dirty="0">
                <a:solidFill>
                  <a:srgbClr val="2E9E9E"/>
                </a:solidFill>
                <a:latin typeface="Calibri"/>
                <a:ea typeface="Calibri"/>
                <a:cs typeface="Calibri"/>
                <a:sym typeface="Calibri"/>
              </a:rPr>
              <a:t>CCS4354 · TENSORS AND GRAPHS</a:t>
            </a:r>
            <a:endParaRPr sz="3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822960" y="2331720"/>
            <a:ext cx="9601200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Graph Neural Networks for</a:t>
            </a:r>
            <a:endParaRPr sz="4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Node Classification</a:t>
            </a:r>
            <a:endParaRPr sz="4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822960" y="3794760"/>
            <a:ext cx="8686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B4CC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AAB4CC"/>
                </a:solidFill>
                <a:latin typeface="Calibri"/>
                <a:ea typeface="Calibri"/>
                <a:cs typeface="Calibri"/>
                <a:sym typeface="Calibri"/>
              </a:rPr>
              <a:t>A comparative study of GCN and GAT on the OGBN-Arxiv citation network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" name="Google Shape;32;p3"/>
          <p:cNvCxnSpPr>
            <a:cxnSpLocks/>
          </p:cNvCxnSpPr>
          <p:nvPr/>
        </p:nvCxnSpPr>
        <p:spPr>
          <a:xfrm flipV="1">
            <a:off x="822960" y="4423518"/>
            <a:ext cx="6142616" cy="54864"/>
          </a:xfrm>
          <a:prstGeom prst="straightConnector1">
            <a:avLst/>
          </a:prstGeom>
          <a:noFill/>
          <a:ln w="25400" cap="flat" cmpd="sng">
            <a:solidFill>
              <a:srgbClr val="2E9E9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3" name="Google Shape;33;p3"/>
          <p:cNvSpPr/>
          <p:nvPr/>
        </p:nvSpPr>
        <p:spPr>
          <a:xfrm>
            <a:off x="822950" y="5120622"/>
            <a:ext cx="7315200" cy="118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Gruop</a:t>
            </a:r>
            <a:r>
              <a:rPr lang="en-US" sz="13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07 Members-23UG1-0061,23UG1-0095,23UG1-0054,23UG1-0095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822960" y="630936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892AC"/>
              </a:buClr>
              <a:buSzPts val="1100"/>
            </a:pPr>
            <a:r>
              <a:rPr lang="en-US" sz="1100" b="0" i="0" u="none" strike="noStrike" cap="none" dirty="0">
                <a:solidFill>
                  <a:srgbClr val="8892AC"/>
                </a:solidFill>
                <a:latin typeface="Calibri"/>
                <a:ea typeface="Calibri"/>
                <a:cs typeface="Calibri"/>
                <a:sym typeface="Calibri"/>
              </a:rPr>
              <a:t>Supervised by [Dr. </a:t>
            </a:r>
            <a:r>
              <a:rPr lang="en-US" sz="1100" b="0" i="0" u="none" strike="noStrike" cap="none" dirty="0" err="1">
                <a:solidFill>
                  <a:srgbClr val="8892AC"/>
                </a:solidFill>
                <a:latin typeface="Calibri"/>
                <a:ea typeface="Calibri"/>
                <a:cs typeface="Calibri"/>
                <a:sym typeface="Calibri"/>
              </a:rPr>
              <a:t>Chameera</a:t>
            </a:r>
            <a:r>
              <a:rPr lang="en-US" sz="1100" b="0" i="0" u="none" strike="noStrike" cap="none" dirty="0">
                <a:solidFill>
                  <a:srgbClr val="8892AC"/>
                </a:solidFill>
                <a:latin typeface="Calibri"/>
                <a:ea typeface="Calibri"/>
                <a:cs typeface="Calibri"/>
                <a:sym typeface="Calibri"/>
              </a:rPr>
              <a:t> De Silva ] ·  SLTC Research University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9E9E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2E9E9E"/>
                </a:solidFill>
                <a:latin typeface="Calibri"/>
                <a:ea typeface="Calibri"/>
                <a:cs typeface="Calibri"/>
                <a:sym typeface="Calibri"/>
              </a:rPr>
              <a:t>OVERVIEW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548640" y="77724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F2B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1A1F2B"/>
                </a:solidFill>
                <a:latin typeface="Calibri"/>
                <a:ea typeface="Calibri"/>
                <a:cs typeface="Calibri"/>
                <a:sym typeface="Calibri"/>
              </a:rPr>
              <a:t>What we'll cover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548640" y="1920240"/>
            <a:ext cx="2651760" cy="356616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777240" y="2194560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9E9E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2E9E9E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777240" y="2880360"/>
            <a:ext cx="219456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1F2B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1A1F2B"/>
                </a:solidFill>
                <a:latin typeface="Calibri"/>
                <a:ea typeface="Calibri"/>
                <a:cs typeface="Calibri"/>
                <a:sym typeface="Calibri"/>
              </a:rPr>
              <a:t>Dataset &amp; Tensor Foundations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777240" y="4069080"/>
            <a:ext cx="219456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OGBN-Arxiv structure and core tensor operations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3456432" y="1920240"/>
            <a:ext cx="2651760" cy="356616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3685032" y="2194560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9E9E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2E9E9E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3685032" y="2880360"/>
            <a:ext cx="219456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1F2B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1A1F2B"/>
                </a:solidFill>
                <a:latin typeface="Calibri"/>
                <a:ea typeface="Calibri"/>
                <a:cs typeface="Calibri"/>
                <a:sym typeface="Calibri"/>
              </a:rPr>
              <a:t>Graph Representation &amp; Preparation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3685032" y="4069080"/>
            <a:ext cx="219456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Structural analysis and preprocessing decisions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6364224" y="1920240"/>
            <a:ext cx="2651760" cy="356616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6592824" y="2194560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9E9E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2E9E9E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6592824" y="2880360"/>
            <a:ext cx="219456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1F2B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1A1F2B"/>
                </a:solidFill>
                <a:latin typeface="Calibri"/>
                <a:ea typeface="Calibri"/>
                <a:cs typeface="Calibri"/>
                <a:sym typeface="Calibri"/>
              </a:rPr>
              <a:t>Model Architecture &amp; Training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6592824" y="4069080"/>
            <a:ext cx="219456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GCN and GAT design, loss, and optimization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9272016" y="1920240"/>
            <a:ext cx="2651760" cy="356616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9500616" y="2194560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9E9E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2E9E9E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9500616" y="2880360"/>
            <a:ext cx="219456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1F2B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1A1F2B"/>
                </a:solidFill>
                <a:latin typeface="Calibri"/>
                <a:ea typeface="Calibri"/>
                <a:cs typeface="Calibri"/>
                <a:sym typeface="Calibri"/>
              </a:rPr>
              <a:t>Results &amp; Explainability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9500616" y="4069080"/>
            <a:ext cx="219456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Evaluation metrics, embeddings, and attention analysis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9E9E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2E9E9E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548640" y="77724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F2B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1A1F2B"/>
                </a:solidFill>
                <a:latin typeface="Calibri"/>
                <a:ea typeface="Calibri"/>
                <a:cs typeface="Calibri"/>
                <a:sym typeface="Calibri"/>
              </a:rPr>
              <a:t>The OGBN-Arxiv Citation Network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548640" y="1417320"/>
            <a:ext cx="64008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Every node is a research paper; every edge is a citation. Our task: predict each paper's subject category using its content and its place in the citation graph.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548640" y="2514600"/>
            <a:ext cx="2514600" cy="15544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731520" y="2743200"/>
            <a:ext cx="21488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169,343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731520" y="3383280"/>
            <a:ext cx="21488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4E9F2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E4E9F2"/>
                </a:solidFill>
                <a:latin typeface="Calibri"/>
                <a:ea typeface="Calibri"/>
                <a:cs typeface="Calibri"/>
                <a:sym typeface="Calibri"/>
              </a:rPr>
              <a:t>Nodes (papers)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3291840" y="2514600"/>
            <a:ext cx="2514600" cy="1554480"/>
          </a:xfrm>
          <a:prstGeom prst="rect">
            <a:avLst/>
          </a:prstGeom>
          <a:solidFill>
            <a:srgbClr val="2E9E9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3474720" y="2743200"/>
            <a:ext cx="21488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1,166,243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3474720" y="3383280"/>
            <a:ext cx="21488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4E9F2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E4E9F2"/>
                </a:solidFill>
                <a:latin typeface="Calibri"/>
                <a:ea typeface="Calibri"/>
                <a:cs typeface="Calibri"/>
                <a:sym typeface="Calibri"/>
              </a:rPr>
              <a:t>Edges (citations)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6035040" y="2514600"/>
            <a:ext cx="2514600" cy="15544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6217920" y="2743200"/>
            <a:ext cx="21488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128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6217920" y="3383280"/>
            <a:ext cx="21488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4E9F2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E4E9F2"/>
                </a:solidFill>
                <a:latin typeface="Calibri"/>
                <a:ea typeface="Calibri"/>
                <a:cs typeface="Calibri"/>
                <a:sym typeface="Calibri"/>
              </a:rPr>
              <a:t>Feature dimensions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8778240" y="2514600"/>
            <a:ext cx="2514600" cy="1554480"/>
          </a:xfrm>
          <a:prstGeom prst="rect">
            <a:avLst/>
          </a:prstGeom>
          <a:solidFill>
            <a:srgbClr val="2E9E9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8961120" y="2743200"/>
            <a:ext cx="21488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8961120" y="3383280"/>
            <a:ext cx="21488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4E9F2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E4E9F2"/>
                </a:solidFill>
                <a:latin typeface="Calibri"/>
                <a:ea typeface="Calibri"/>
                <a:cs typeface="Calibri"/>
                <a:sym typeface="Calibri"/>
              </a:rPr>
              <a:t>Subject categories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548640" y="4343400"/>
            <a:ext cx="10698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C33"/>
              </a:buClr>
              <a:buSzPts val="1300"/>
              <a:buFont typeface="Calibri"/>
              <a:buNone/>
            </a:pPr>
            <a:r>
              <a:rPr lang="en-US" sz="1300" b="0" i="1" u="none" strike="noStrike" cap="none">
                <a:solidFill>
                  <a:srgbClr val="111C33"/>
                </a:solidFill>
                <a:latin typeface="Calibri"/>
                <a:ea typeface="Calibri"/>
                <a:cs typeface="Calibri"/>
                <a:sym typeface="Calibri"/>
              </a:rPr>
              <a:t>Task: Node Classification  -&gt;  predicting a paper's subject category (e.g. AI, Vision, Databases) from its features and citation neighbors.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548640" y="4937760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Graph density: 0.000041 — extremely sparse, typical of real-world citation networks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6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9E9E"/>
              </a:buClr>
              <a:buSzPts val="1300"/>
              <a:buFont typeface="Calibri"/>
              <a:buNone/>
            </a:pPr>
            <a:r>
              <a:rPr lang="en-US" sz="1300" b="1" i="0" u="none" strike="noStrike" cap="none" dirty="0">
                <a:solidFill>
                  <a:srgbClr val="2E9E9E"/>
                </a:solidFill>
                <a:latin typeface="Calibri"/>
                <a:ea typeface="Calibri"/>
                <a:cs typeface="Calibri"/>
                <a:sym typeface="Calibri"/>
              </a:rPr>
              <a:t>Ishanka · FOUNDATIONS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548640" y="77724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F2B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1A1F2B"/>
                </a:solidFill>
                <a:latin typeface="Calibri"/>
                <a:ea typeface="Calibri"/>
                <a:cs typeface="Calibri"/>
                <a:sym typeface="Calibri"/>
              </a:rPr>
              <a:t>Tensors: The Building Blocks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548640" y="1728216"/>
            <a:ext cx="128016" cy="128016"/>
          </a:xfrm>
          <a:prstGeom prst="ellipse">
            <a:avLst/>
          </a:prstGeom>
          <a:solidFill>
            <a:srgbClr val="2E9E9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6"/>
          <p:cNvSpPr/>
          <p:nvPr/>
        </p:nvSpPr>
        <p:spPr>
          <a:xfrm>
            <a:off x="804672" y="1618488"/>
            <a:ext cx="481888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F2B"/>
              </a:buClr>
              <a:buSzPts val="1450"/>
              <a:buFont typeface="Calibri"/>
              <a:buNone/>
            </a:pPr>
            <a:r>
              <a:rPr lang="en-US" sz="1450" b="1" i="0" u="none" strike="noStrike" cap="none">
                <a:solidFill>
                  <a:srgbClr val="1A1F2B"/>
                </a:solidFill>
                <a:latin typeface="Calibri"/>
                <a:ea typeface="Calibri"/>
                <a:cs typeface="Calibri"/>
                <a:sym typeface="Calibri"/>
              </a:rPr>
              <a:t>Creation &amp; Indexing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804672" y="1965960"/>
            <a:ext cx="4818888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Building tensors and slicing them — how node feature rows are accessed.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5989320" y="1728216"/>
            <a:ext cx="128016" cy="128016"/>
          </a:xfrm>
          <a:prstGeom prst="ellipse">
            <a:avLst/>
          </a:prstGeom>
          <a:solidFill>
            <a:srgbClr val="2E9E9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6"/>
          <p:cNvSpPr/>
          <p:nvPr/>
        </p:nvSpPr>
        <p:spPr>
          <a:xfrm>
            <a:off x="6245352" y="1618488"/>
            <a:ext cx="481888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F2B"/>
              </a:buClr>
              <a:buSzPts val="1450"/>
              <a:buFont typeface="Calibri"/>
              <a:buNone/>
            </a:pPr>
            <a:r>
              <a:rPr lang="en-US" sz="1450" b="1" i="0" u="none" strike="noStrike" cap="none">
                <a:solidFill>
                  <a:srgbClr val="1A1F2B"/>
                </a:solidFill>
                <a:latin typeface="Calibri"/>
                <a:ea typeface="Calibri"/>
                <a:cs typeface="Calibri"/>
                <a:sym typeface="Calibri"/>
              </a:rPr>
              <a:t>Reshaping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6245352" y="1965960"/>
            <a:ext cx="4818888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Rearranging dimensions without changing the underlying data.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548640" y="2825496"/>
            <a:ext cx="128016" cy="128016"/>
          </a:xfrm>
          <a:prstGeom prst="ellipse">
            <a:avLst/>
          </a:prstGeom>
          <a:solidFill>
            <a:srgbClr val="2E9E9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6"/>
          <p:cNvSpPr/>
          <p:nvPr/>
        </p:nvSpPr>
        <p:spPr>
          <a:xfrm>
            <a:off x="804672" y="2715768"/>
            <a:ext cx="481888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F2B"/>
              </a:buClr>
              <a:buSzPts val="1450"/>
              <a:buFont typeface="Calibri"/>
              <a:buNone/>
            </a:pPr>
            <a:r>
              <a:rPr lang="en-US" sz="1450" b="1" i="0" u="none" strike="noStrike" cap="none">
                <a:solidFill>
                  <a:srgbClr val="1A1F2B"/>
                </a:solidFill>
                <a:latin typeface="Calibri"/>
                <a:ea typeface="Calibri"/>
                <a:cs typeface="Calibri"/>
                <a:sym typeface="Calibri"/>
              </a:rPr>
              <a:t>Matrix Multiplication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804672" y="3063240"/>
            <a:ext cx="4818888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The core operation behind every graph convolution layer.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5989320" y="2825496"/>
            <a:ext cx="128016" cy="128016"/>
          </a:xfrm>
          <a:prstGeom prst="ellipse">
            <a:avLst/>
          </a:prstGeom>
          <a:solidFill>
            <a:srgbClr val="2E9E9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6"/>
          <p:cNvSpPr/>
          <p:nvPr/>
        </p:nvSpPr>
        <p:spPr>
          <a:xfrm>
            <a:off x="6245352" y="2715768"/>
            <a:ext cx="481888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F2B"/>
              </a:buClr>
              <a:buSzPts val="1450"/>
              <a:buFont typeface="Calibri"/>
              <a:buNone/>
            </a:pPr>
            <a:r>
              <a:rPr lang="en-US" sz="1450" b="1" i="0" u="none" strike="noStrike" cap="none">
                <a:solidFill>
                  <a:srgbClr val="1A1F2B"/>
                </a:solidFill>
                <a:latin typeface="Calibri"/>
                <a:ea typeface="Calibri"/>
                <a:cs typeface="Calibri"/>
                <a:sym typeface="Calibri"/>
              </a:rPr>
              <a:t>Broadcasting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6245352" y="3063240"/>
            <a:ext cx="4818888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Applying operations across mismatched shapes efficiently.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548640" y="3922776"/>
            <a:ext cx="128016" cy="128016"/>
          </a:xfrm>
          <a:prstGeom prst="ellipse">
            <a:avLst/>
          </a:prstGeom>
          <a:solidFill>
            <a:srgbClr val="2E9E9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6"/>
          <p:cNvSpPr/>
          <p:nvPr/>
        </p:nvSpPr>
        <p:spPr>
          <a:xfrm>
            <a:off x="804672" y="3813048"/>
            <a:ext cx="481888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F2B"/>
              </a:buClr>
              <a:buSzPts val="1450"/>
              <a:buFont typeface="Calibri"/>
              <a:buNone/>
            </a:pPr>
            <a:r>
              <a:rPr lang="en-US" sz="1450" b="1" i="0" u="none" strike="noStrike" cap="none">
                <a:solidFill>
                  <a:srgbClr val="1A1F2B"/>
                </a:solidFill>
                <a:latin typeface="Calibri"/>
                <a:ea typeface="Calibri"/>
                <a:cs typeface="Calibri"/>
                <a:sym typeface="Calibri"/>
              </a:rPr>
              <a:t>Aggregation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804672" y="4160520"/>
            <a:ext cx="4818888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Sum / mean along a dimension — exactly how a GNN combines neighbor features.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5989320" y="3922776"/>
            <a:ext cx="128016" cy="128016"/>
          </a:xfrm>
          <a:prstGeom prst="ellipse">
            <a:avLst/>
          </a:prstGeom>
          <a:solidFill>
            <a:srgbClr val="2E9E9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6"/>
          <p:cNvSpPr/>
          <p:nvPr/>
        </p:nvSpPr>
        <p:spPr>
          <a:xfrm>
            <a:off x="6245352" y="3813048"/>
            <a:ext cx="481888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F2B"/>
              </a:buClr>
              <a:buSzPts val="1450"/>
              <a:buFont typeface="Calibri"/>
              <a:buNone/>
            </a:pPr>
            <a:r>
              <a:rPr lang="en-US" sz="1450" b="1" i="0" u="none" strike="noStrike" cap="none">
                <a:solidFill>
                  <a:srgbClr val="1A1F2B"/>
                </a:solidFill>
                <a:latin typeface="Calibri"/>
                <a:ea typeface="Calibri"/>
                <a:cs typeface="Calibri"/>
                <a:sym typeface="Calibri"/>
              </a:rPr>
              <a:t>GPU Acceleration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6245352" y="4160520"/>
            <a:ext cx="4818888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Moving computation to CUDA for training at graph scale.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9E9E"/>
              </a:buClr>
              <a:buSzPts val="1300"/>
              <a:buFont typeface="Calibri"/>
              <a:buNone/>
            </a:pPr>
            <a:r>
              <a:rPr lang="en-US" sz="1300" b="1" i="0" u="none" strike="noStrike" cap="none" dirty="0">
                <a:solidFill>
                  <a:srgbClr val="2E9E9E"/>
                </a:solidFill>
                <a:latin typeface="Calibri"/>
                <a:ea typeface="Calibri"/>
                <a:cs typeface="Calibri"/>
                <a:sym typeface="Calibri"/>
              </a:rPr>
              <a:t>Kalana · GRAPH STRUCTURE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548640" y="777240"/>
            <a:ext cx="9601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F2B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1A1F2B"/>
                </a:solidFill>
                <a:latin typeface="Calibri"/>
                <a:ea typeface="Calibri"/>
                <a:cs typeface="Calibri"/>
                <a:sym typeface="Calibri"/>
              </a:rPr>
              <a:t>Representing &amp; Analyzing the Graph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548640" y="155448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edge_index format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548640" y="1920240"/>
            <a:ext cx="5120640" cy="1051560"/>
          </a:xfrm>
          <a:prstGeom prst="rect">
            <a:avLst/>
          </a:prstGeom>
          <a:solidFill>
            <a:srgbClr val="111C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7"/>
          <p:cNvSpPr/>
          <p:nvPr/>
        </p:nvSpPr>
        <p:spPr>
          <a:xfrm>
            <a:off x="777240" y="2057400"/>
            <a:ext cx="46634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FE8DA"/>
              </a:buClr>
              <a:buSzPts val="1200"/>
              <a:buFont typeface="Consolas"/>
              <a:buNone/>
            </a:pPr>
            <a:r>
              <a:rPr lang="en-US" sz="1200" b="0" i="0" u="none" strike="noStrike" cap="none">
                <a:solidFill>
                  <a:srgbClr val="9FE8DA"/>
                </a:solidFill>
                <a:latin typeface="Consolas"/>
                <a:ea typeface="Consolas"/>
                <a:cs typeface="Consolas"/>
                <a:sym typeface="Consolas"/>
              </a:rPr>
              <a:t>edge_index[0] = [ 12, 45, 12, 90, ... ]   (source)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FE8DA"/>
              </a:buClr>
              <a:buSzPts val="1200"/>
              <a:buFont typeface="Consolas"/>
              <a:buNone/>
            </a:pPr>
            <a:r>
              <a:rPr lang="en-US" sz="1200" b="0" i="0" u="none" strike="noStrike" cap="none">
                <a:solidFill>
                  <a:srgbClr val="9FE8DA"/>
                </a:solidFill>
                <a:latin typeface="Consolas"/>
                <a:ea typeface="Consolas"/>
                <a:cs typeface="Consolas"/>
                <a:sym typeface="Consolas"/>
              </a:rPr>
              <a:t>edge_index[1] = [ 45, 88, 90,  3, ... ]   (target)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548640" y="306324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50"/>
              <a:buFont typeface="Calibri"/>
              <a:buNone/>
            </a:pPr>
            <a:r>
              <a:rPr lang="en-US" sz="1150" b="0" i="1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A 2 x N tensor — each column is one citation: paper A cites paper B.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89320" y="1508760"/>
            <a:ext cx="562356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7"/>
          <p:cNvSpPr/>
          <p:nvPr/>
        </p:nvSpPr>
        <p:spPr>
          <a:xfrm>
            <a:off x="548640" y="3703320"/>
            <a:ext cx="521208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50"/>
              <a:buFont typeface="Calibri"/>
              <a:buChar char="•"/>
            </a:pPr>
            <a:r>
              <a:rPr lang="en-US" sz="1250" b="0" i="0" u="none" strike="noStrike" cap="none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Density: 0.000041 - very sparse, as expected for citation graphs</a:t>
            </a:r>
            <a:endParaRPr sz="12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5B6472"/>
              </a:buClr>
              <a:buSzPts val="1250"/>
              <a:buFont typeface="Calibri"/>
              <a:buChar char="•"/>
            </a:pPr>
            <a:r>
              <a:rPr lang="en-US" sz="1250" b="0" i="0" u="none" strike="noStrike" cap="none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Right-skewed degree distribution - a small number of highly-cited hub papers</a:t>
            </a:r>
            <a:endParaRPr sz="12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5B6472"/>
              </a:buClr>
              <a:buSzPts val="1250"/>
              <a:buFont typeface="Calibri"/>
              <a:buChar char="•"/>
            </a:pPr>
            <a:r>
              <a:rPr lang="en-US" sz="1250" b="0" i="0" u="none" strike="noStrike" cap="none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Graph is largely one connected structure, with a few small isolated clusters</a:t>
            </a:r>
            <a:endParaRPr sz="12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9E9E"/>
              </a:buClr>
              <a:buSzPts val="1300"/>
              <a:buFont typeface="Calibri"/>
              <a:buNone/>
            </a:pPr>
            <a:r>
              <a:rPr lang="en-US" sz="1300" b="1" i="0" u="none" strike="noStrike" cap="none" dirty="0">
                <a:solidFill>
                  <a:srgbClr val="2E9E9E"/>
                </a:solidFill>
                <a:latin typeface="Calibri"/>
                <a:ea typeface="Calibri"/>
                <a:cs typeface="Calibri"/>
                <a:sym typeface="Calibri"/>
              </a:rPr>
              <a:t>Kalana · PREPARATION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8"/>
          <p:cNvSpPr/>
          <p:nvPr/>
        </p:nvSpPr>
        <p:spPr>
          <a:xfrm>
            <a:off x="548640" y="77724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F2B"/>
              </a:buClr>
              <a:buSzPts val="3000"/>
              <a:buFont typeface="Calibri"/>
              <a:buNone/>
            </a:pPr>
            <a:r>
              <a:rPr lang="en-US" sz="3000" b="1" i="0" u="none" strike="noStrike" cap="none" dirty="0">
                <a:solidFill>
                  <a:srgbClr val="1A1F2B"/>
                </a:solidFill>
                <a:latin typeface="Calibri"/>
                <a:ea typeface="Calibri"/>
                <a:cs typeface="Calibri"/>
                <a:sym typeface="Calibri"/>
              </a:rPr>
              <a:t>Preparing the Data</a:t>
            </a:r>
            <a:endParaRPr sz="3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8"/>
          <p:cNvSpPr/>
          <p:nvPr/>
        </p:nvSpPr>
        <p:spPr>
          <a:xfrm>
            <a:off x="548640" y="1691640"/>
            <a:ext cx="3429000" cy="32918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3E7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8"/>
          <p:cNvSpPr/>
          <p:nvPr/>
        </p:nvSpPr>
        <p:spPr>
          <a:xfrm>
            <a:off x="822960" y="1965960"/>
            <a:ext cx="28803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Official OGB Split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8"/>
          <p:cNvSpPr/>
          <p:nvPr/>
        </p:nvSpPr>
        <p:spPr>
          <a:xfrm>
            <a:off x="822960" y="2606040"/>
            <a:ext cx="2880360" cy="2194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00"/>
              <a:buFont typeface="Calibri"/>
              <a:buNone/>
            </a:pPr>
            <a:r>
              <a:rPr lang="en-US" sz="1200" b="0" i="0" u="none" strike="noStrike" cap="none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Train / validation / test split by publication year - older papers train, newer papers test. Keeps results comparable to the OGB leaderboard and mirrors a realistic deployment scenario.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8"/>
          <p:cNvSpPr/>
          <p:nvPr/>
        </p:nvSpPr>
        <p:spPr>
          <a:xfrm>
            <a:off x="4251960" y="1691640"/>
            <a:ext cx="3429000" cy="32918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3E7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8"/>
          <p:cNvSpPr/>
          <p:nvPr/>
        </p:nvSpPr>
        <p:spPr>
          <a:xfrm>
            <a:off x="4526280" y="1965960"/>
            <a:ext cx="28803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Feature Normalization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4526280" y="2606040"/>
            <a:ext cx="2880360" cy="2194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00"/>
              <a:buFont typeface="Calibri"/>
              <a:buNone/>
            </a:pPr>
            <a:r>
              <a:rPr lang="en-US" sz="1200" b="0" i="0" u="none" strike="noStrike" cap="none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Feature magnitudes were already small and consistent across the 128 dimensions, so no additional normalization was applied - preserving the original semantic signal.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8"/>
          <p:cNvSpPr/>
          <p:nvPr/>
        </p:nvSpPr>
        <p:spPr>
          <a:xfrm>
            <a:off x="7955280" y="1691640"/>
            <a:ext cx="3429000" cy="32918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3E7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8"/>
          <p:cNvSpPr/>
          <p:nvPr/>
        </p:nvSpPr>
        <p:spPr>
          <a:xfrm>
            <a:off x="8229600" y="1965960"/>
            <a:ext cx="28803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Class Handling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8229600" y="2606040"/>
            <a:ext cx="2880360" cy="2194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00"/>
              <a:buFont typeface="Calibri"/>
              <a:buNone/>
            </a:pPr>
            <a:r>
              <a:rPr lang="en-US" sz="1200" b="0" i="0" u="none" strike="noStrike" cap="none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40 categories of unequal size </a:t>
            </a:r>
            <a:r>
              <a:rPr lang="en-US" sz="1200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lang="en-US" sz="1200" b="0" i="0" u="none" strike="noStrike" cap="none" dirty="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addressed at evaluation time using macro-averaged metrics rather than relying on raw accuracy alone.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9E9E"/>
              </a:buClr>
              <a:buSzPts val="1300"/>
              <a:buFont typeface="Calibri"/>
              <a:buNone/>
            </a:pPr>
            <a:r>
              <a:rPr lang="en-US" sz="1300" b="1" i="0" u="none" strike="noStrike" cap="none" dirty="0">
                <a:solidFill>
                  <a:srgbClr val="2E9E9E"/>
                </a:solidFill>
                <a:latin typeface="Calibri"/>
                <a:ea typeface="Calibri"/>
                <a:cs typeface="Calibri"/>
                <a:sym typeface="Calibri"/>
              </a:rPr>
              <a:t>Kosala · ARCHITECTURE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9"/>
          <p:cNvSpPr/>
          <p:nvPr/>
        </p:nvSpPr>
        <p:spPr>
          <a:xfrm>
            <a:off x="548640" y="77724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F2B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1A1F2B"/>
                </a:solidFill>
                <a:latin typeface="Calibri"/>
                <a:ea typeface="Calibri"/>
                <a:cs typeface="Calibri"/>
                <a:sym typeface="Calibri"/>
              </a:rPr>
              <a:t>Two Architectures, Two Strategies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9"/>
          <p:cNvSpPr/>
          <p:nvPr/>
        </p:nvSpPr>
        <p:spPr>
          <a:xfrm>
            <a:off x="548640" y="1691640"/>
            <a:ext cx="5166360" cy="3931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9"/>
          <p:cNvSpPr/>
          <p:nvPr/>
        </p:nvSpPr>
        <p:spPr>
          <a:xfrm>
            <a:off x="822960" y="1965960"/>
            <a:ext cx="3657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GCN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9"/>
          <p:cNvSpPr/>
          <p:nvPr/>
        </p:nvSpPr>
        <p:spPr>
          <a:xfrm>
            <a:off x="822960" y="24688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FB2D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9FB2D8"/>
                </a:solidFill>
                <a:latin typeface="Calibri"/>
                <a:ea typeface="Calibri"/>
                <a:cs typeface="Calibri"/>
                <a:sym typeface="Calibri"/>
              </a:rPr>
              <a:t>Graph Convolutional Network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9"/>
          <p:cNvSpPr/>
          <p:nvPr/>
        </p:nvSpPr>
        <p:spPr>
          <a:xfrm>
            <a:off x="822960" y="3063240"/>
            <a:ext cx="17373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9E9E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2E9E9E"/>
                </a:solidFill>
                <a:latin typeface="Calibri"/>
                <a:ea typeface="Calibri"/>
                <a:cs typeface="Calibri"/>
                <a:sym typeface="Calibri"/>
              </a:rPr>
              <a:t>Aggregation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9"/>
          <p:cNvSpPr/>
          <p:nvPr/>
        </p:nvSpPr>
        <p:spPr>
          <a:xfrm>
            <a:off x="2606040" y="3063240"/>
            <a:ext cx="29260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E3F0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DCE3F0"/>
                </a:solidFill>
                <a:latin typeface="Calibri"/>
                <a:ea typeface="Calibri"/>
                <a:cs typeface="Calibri"/>
                <a:sym typeface="Calibri"/>
              </a:rPr>
              <a:t>Fixed, degree-normalized average of all neighbors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9"/>
          <p:cNvSpPr/>
          <p:nvPr/>
        </p:nvSpPr>
        <p:spPr>
          <a:xfrm>
            <a:off x="822960" y="3502152"/>
            <a:ext cx="17373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9E9E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2E9E9E"/>
                </a:solidFill>
                <a:latin typeface="Calibri"/>
                <a:ea typeface="Calibri"/>
                <a:cs typeface="Calibri"/>
                <a:sym typeface="Calibri"/>
              </a:rPr>
              <a:t>Layers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9"/>
          <p:cNvSpPr/>
          <p:nvPr/>
        </p:nvSpPr>
        <p:spPr>
          <a:xfrm>
            <a:off x="2606040" y="3502152"/>
            <a:ext cx="29260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E3F0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DCE3F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9"/>
          <p:cNvSpPr/>
          <p:nvPr/>
        </p:nvSpPr>
        <p:spPr>
          <a:xfrm>
            <a:off x="822960" y="3941064"/>
            <a:ext cx="17373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9E9E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2E9E9E"/>
                </a:solidFill>
                <a:latin typeface="Calibri"/>
                <a:ea typeface="Calibri"/>
                <a:cs typeface="Calibri"/>
                <a:sym typeface="Calibri"/>
              </a:rPr>
              <a:t>Hidden dim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9"/>
          <p:cNvSpPr/>
          <p:nvPr/>
        </p:nvSpPr>
        <p:spPr>
          <a:xfrm>
            <a:off x="2606040" y="3941064"/>
            <a:ext cx="29260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E3F0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DCE3F0"/>
                </a:solidFill>
                <a:latin typeface="Calibri"/>
                <a:ea typeface="Calibri"/>
                <a:cs typeface="Calibri"/>
                <a:sym typeface="Calibri"/>
              </a:rPr>
              <a:t>256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9"/>
          <p:cNvSpPr/>
          <p:nvPr/>
        </p:nvSpPr>
        <p:spPr>
          <a:xfrm>
            <a:off x="822960" y="4379976"/>
            <a:ext cx="17373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9E9E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2E9E9E"/>
                </a:solidFill>
                <a:latin typeface="Calibri"/>
                <a:ea typeface="Calibri"/>
                <a:cs typeface="Calibri"/>
                <a:sym typeface="Calibri"/>
              </a:rPr>
              <a:t>Activation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9"/>
          <p:cNvSpPr/>
          <p:nvPr/>
        </p:nvSpPr>
        <p:spPr>
          <a:xfrm>
            <a:off x="2606040" y="4379976"/>
            <a:ext cx="29260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E3F0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DCE3F0"/>
                </a:solidFill>
                <a:latin typeface="Calibri"/>
                <a:ea typeface="Calibri"/>
                <a:cs typeface="Calibri"/>
                <a:sym typeface="Calibri"/>
              </a:rPr>
              <a:t>ReLU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9"/>
          <p:cNvSpPr/>
          <p:nvPr/>
        </p:nvSpPr>
        <p:spPr>
          <a:xfrm>
            <a:off x="822960" y="4818888"/>
            <a:ext cx="17373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9E9E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2E9E9E"/>
                </a:solidFill>
                <a:latin typeface="Calibri"/>
                <a:ea typeface="Calibri"/>
                <a:cs typeface="Calibri"/>
                <a:sym typeface="Calibri"/>
              </a:rPr>
              <a:t>Dropout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9"/>
          <p:cNvSpPr/>
          <p:nvPr/>
        </p:nvSpPr>
        <p:spPr>
          <a:xfrm>
            <a:off x="2606040" y="4818888"/>
            <a:ext cx="29260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E3F0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DCE3F0"/>
                </a:solidFill>
                <a:latin typeface="Calibri"/>
                <a:ea typeface="Calibri"/>
                <a:cs typeface="Calibri"/>
                <a:sym typeface="Calibri"/>
              </a:rPr>
              <a:t>0.5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9"/>
          <p:cNvSpPr/>
          <p:nvPr/>
        </p:nvSpPr>
        <p:spPr>
          <a:xfrm>
            <a:off x="5989320" y="1691640"/>
            <a:ext cx="5166360" cy="3931920"/>
          </a:xfrm>
          <a:prstGeom prst="rect">
            <a:avLst/>
          </a:prstGeom>
          <a:solidFill>
            <a:srgbClr val="2E9E9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9"/>
          <p:cNvSpPr/>
          <p:nvPr/>
        </p:nvSpPr>
        <p:spPr>
          <a:xfrm>
            <a:off x="6263640" y="1965960"/>
            <a:ext cx="3657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GAT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6263640" y="24688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FF3F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DFF3F0"/>
                </a:solidFill>
                <a:latin typeface="Calibri"/>
                <a:ea typeface="Calibri"/>
                <a:cs typeface="Calibri"/>
                <a:sym typeface="Calibri"/>
              </a:rPr>
              <a:t>Graph Attention Network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6263640" y="3063240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C33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111C33"/>
                </a:solidFill>
                <a:latin typeface="Calibri"/>
                <a:ea typeface="Calibri"/>
                <a:cs typeface="Calibri"/>
                <a:sym typeface="Calibri"/>
              </a:rPr>
              <a:t>Aggregation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9"/>
          <p:cNvSpPr/>
          <p:nvPr/>
        </p:nvSpPr>
        <p:spPr>
          <a:xfrm>
            <a:off x="8092440" y="3063240"/>
            <a:ext cx="29260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FBF8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EAFBF8"/>
                </a:solidFill>
                <a:latin typeface="Calibri"/>
                <a:ea typeface="Calibri"/>
                <a:cs typeface="Calibri"/>
                <a:sym typeface="Calibri"/>
              </a:rPr>
              <a:t>Learned attention weights per neighbor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9"/>
          <p:cNvSpPr/>
          <p:nvPr/>
        </p:nvSpPr>
        <p:spPr>
          <a:xfrm>
            <a:off x="6263640" y="3502152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C33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111C33"/>
                </a:solidFill>
                <a:latin typeface="Calibri"/>
                <a:ea typeface="Calibri"/>
                <a:cs typeface="Calibri"/>
                <a:sym typeface="Calibri"/>
              </a:rPr>
              <a:t>Attention heads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9"/>
          <p:cNvSpPr/>
          <p:nvPr/>
        </p:nvSpPr>
        <p:spPr>
          <a:xfrm>
            <a:off x="8092440" y="3502152"/>
            <a:ext cx="29260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FBF8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EAFBF8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6263640" y="3941064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C33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111C33"/>
                </a:solidFill>
                <a:latin typeface="Calibri"/>
                <a:ea typeface="Calibri"/>
                <a:cs typeface="Calibri"/>
                <a:sym typeface="Calibri"/>
              </a:rPr>
              <a:t>Hidden dim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9"/>
          <p:cNvSpPr/>
          <p:nvPr/>
        </p:nvSpPr>
        <p:spPr>
          <a:xfrm>
            <a:off x="8092440" y="3941064"/>
            <a:ext cx="29260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FBF8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EAFBF8"/>
                </a:solidFill>
                <a:latin typeface="Calibri"/>
                <a:ea typeface="Calibri"/>
                <a:cs typeface="Calibri"/>
                <a:sym typeface="Calibri"/>
              </a:rPr>
              <a:t>32 per head (256 effective)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9"/>
          <p:cNvSpPr/>
          <p:nvPr/>
        </p:nvSpPr>
        <p:spPr>
          <a:xfrm>
            <a:off x="6263640" y="4379976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C33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111C33"/>
                </a:solidFill>
                <a:latin typeface="Calibri"/>
                <a:ea typeface="Calibri"/>
                <a:cs typeface="Calibri"/>
                <a:sym typeface="Calibri"/>
              </a:rPr>
              <a:t>Activation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9"/>
          <p:cNvSpPr/>
          <p:nvPr/>
        </p:nvSpPr>
        <p:spPr>
          <a:xfrm>
            <a:off x="8092440" y="4379976"/>
            <a:ext cx="29260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FBF8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EAFBF8"/>
                </a:solidFill>
                <a:latin typeface="Calibri"/>
                <a:ea typeface="Calibri"/>
                <a:cs typeface="Calibri"/>
                <a:sym typeface="Calibri"/>
              </a:rPr>
              <a:t>ELU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9"/>
          <p:cNvSpPr/>
          <p:nvPr/>
        </p:nvSpPr>
        <p:spPr>
          <a:xfrm>
            <a:off x="6263640" y="4818888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C33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111C33"/>
                </a:solidFill>
                <a:latin typeface="Calibri"/>
                <a:ea typeface="Calibri"/>
                <a:cs typeface="Calibri"/>
                <a:sym typeface="Calibri"/>
              </a:rPr>
              <a:t>Dropout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9"/>
          <p:cNvSpPr/>
          <p:nvPr/>
        </p:nvSpPr>
        <p:spPr>
          <a:xfrm>
            <a:off x="8092440" y="4818888"/>
            <a:ext cx="29260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AFBF8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EAFBF8"/>
                </a:solidFill>
                <a:latin typeface="Calibri"/>
                <a:ea typeface="Calibri"/>
                <a:cs typeface="Calibri"/>
                <a:sym typeface="Calibri"/>
              </a:rPr>
              <a:t>0.5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9E9E"/>
              </a:buClr>
              <a:buSzPts val="1300"/>
              <a:buFont typeface="Calibri"/>
              <a:buNone/>
            </a:pPr>
            <a:r>
              <a:rPr lang="en-US" sz="1300" b="1" i="0" u="none" strike="noStrike" cap="none" dirty="0">
                <a:solidFill>
                  <a:srgbClr val="2E9E9E"/>
                </a:solidFill>
                <a:latin typeface="Calibri"/>
                <a:ea typeface="Calibri"/>
                <a:cs typeface="Calibri"/>
                <a:sym typeface="Calibri"/>
              </a:rPr>
              <a:t>Kosala · TRAINING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0"/>
          <p:cNvSpPr/>
          <p:nvPr/>
        </p:nvSpPr>
        <p:spPr>
          <a:xfrm>
            <a:off x="548640" y="77724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F2B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1A1F2B"/>
                </a:solidFill>
                <a:latin typeface="Calibri"/>
                <a:ea typeface="Calibri"/>
                <a:cs typeface="Calibri"/>
                <a:sym typeface="Calibri"/>
              </a:rPr>
              <a:t>Training &amp; Optimization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0" name="Google Shape;180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1554480"/>
            <a:ext cx="5760720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0"/>
          <p:cNvSpPr/>
          <p:nvPr/>
        </p:nvSpPr>
        <p:spPr>
          <a:xfrm>
            <a:off x="6629400" y="1554480"/>
            <a:ext cx="49834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Loss &amp; Optimizer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0"/>
          <p:cNvSpPr/>
          <p:nvPr/>
        </p:nvSpPr>
        <p:spPr>
          <a:xfrm>
            <a:off x="6629400" y="1965960"/>
            <a:ext cx="498348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00"/>
              <a:buFont typeface="Calibri"/>
              <a:buChar char="•"/>
            </a:pPr>
            <a:r>
              <a:rPr lang="en-US" sz="1200" b="0" i="0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CrossEntropyLoss — standard for multi-class classification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Clr>
                <a:srgbClr val="5B6472"/>
              </a:buClr>
              <a:buSzPts val="1200"/>
              <a:buFont typeface="Calibri"/>
              <a:buChar char="•"/>
            </a:pPr>
            <a:r>
              <a:rPr lang="en-US" sz="1200" b="0" i="0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Adam optimizer — adapts learning rate per parameter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Clr>
                <a:srgbClr val="5B6472"/>
              </a:buClr>
              <a:buSzPts val="1200"/>
              <a:buFont typeface="Calibri"/>
              <a:buChar char="•"/>
            </a:pPr>
            <a:r>
              <a:rPr lang="en-US" sz="1200" b="0" i="0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GCN: lr = 0.01   |   GAT: lr = 0.005 (lower, for attention stability)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Clr>
                <a:srgbClr val="5B6472"/>
              </a:buClr>
              <a:buSzPts val="1200"/>
              <a:buFont typeface="Calibri"/>
              <a:buChar char="•"/>
            </a:pPr>
            <a:r>
              <a:rPr lang="en-US" sz="1200" b="0" i="0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weight_decay = 5e-4 for L2 regularization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0"/>
          <p:cNvSpPr/>
          <p:nvPr/>
        </p:nvSpPr>
        <p:spPr>
          <a:xfrm>
            <a:off x="6629400" y="3794760"/>
            <a:ext cx="4983480" cy="96012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10"/>
          <p:cNvSpPr/>
          <p:nvPr/>
        </p:nvSpPr>
        <p:spPr>
          <a:xfrm>
            <a:off x="6858000" y="3913632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F2B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A1F2B"/>
                </a:solidFill>
                <a:latin typeface="Calibri"/>
                <a:ea typeface="Calibri"/>
                <a:cs typeface="Calibri"/>
                <a:sym typeface="Calibri"/>
              </a:rPr>
              <a:t>Hyperparameter sweep (GCN, learning rate)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0"/>
          <p:cNvSpPr/>
          <p:nvPr/>
        </p:nvSpPr>
        <p:spPr>
          <a:xfrm>
            <a:off x="6858000" y="4224528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0.001 -&gt; underfit  ·  0.01 -&gt; best  ·  0.05 -&gt; unstable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1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9E9E"/>
              </a:buClr>
              <a:buSzPts val="1300"/>
              <a:buFont typeface="Calibri"/>
              <a:buNone/>
            </a:pPr>
            <a:r>
              <a:rPr lang="en-US" sz="1300" b="1" i="0" u="none" strike="noStrike" cap="none" dirty="0">
                <a:solidFill>
                  <a:srgbClr val="2E9E9E"/>
                </a:solidFill>
                <a:latin typeface="Calibri"/>
                <a:ea typeface="Calibri"/>
                <a:cs typeface="Calibri"/>
                <a:sym typeface="Calibri"/>
              </a:rPr>
              <a:t>Hiruni · RESULTS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1"/>
          <p:cNvSpPr/>
          <p:nvPr/>
        </p:nvSpPr>
        <p:spPr>
          <a:xfrm>
            <a:off x="548640" y="77724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F2B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1A1F2B"/>
                </a:solidFill>
                <a:latin typeface="Calibri"/>
                <a:ea typeface="Calibri"/>
                <a:cs typeface="Calibri"/>
                <a:sym typeface="Calibri"/>
              </a:rPr>
              <a:t>Model Evaluation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4" name="Google Shape;194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1554480"/>
            <a:ext cx="6583680" cy="379476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1"/>
          <p:cNvSpPr/>
          <p:nvPr/>
        </p:nvSpPr>
        <p:spPr>
          <a:xfrm>
            <a:off x="7406640" y="1600200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Macro-averaged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1"/>
          <p:cNvSpPr/>
          <p:nvPr/>
        </p:nvSpPr>
        <p:spPr>
          <a:xfrm>
            <a:off x="7406640" y="1965960"/>
            <a:ext cx="420624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Precision, recall, and F1 use macro-averaging — treating all 40 categories equally, regardless of size, for a fairer picture on an imbalanced label set.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1"/>
          <p:cNvSpPr/>
          <p:nvPr/>
        </p:nvSpPr>
        <p:spPr>
          <a:xfrm>
            <a:off x="7406640" y="3108960"/>
            <a:ext cx="4206240" cy="21488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11"/>
          <p:cNvSpPr/>
          <p:nvPr/>
        </p:nvSpPr>
        <p:spPr>
          <a:xfrm>
            <a:off x="7635240" y="329184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9E9E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2E9E9E"/>
                </a:solidFill>
                <a:latin typeface="Calibri"/>
                <a:ea typeface="Calibri"/>
                <a:cs typeface="Calibri"/>
                <a:sym typeface="Calibri"/>
              </a:rPr>
              <a:t>Takeaway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1"/>
          <p:cNvSpPr/>
          <p:nvPr/>
        </p:nvSpPr>
        <p:spPr>
          <a:xfrm>
            <a:off x="7635240" y="3611880"/>
            <a:ext cx="374904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A1F2B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A1F2B"/>
                </a:solidFill>
                <a:latin typeface="Calibri"/>
                <a:ea typeface="Calibri"/>
                <a:cs typeface="Calibri"/>
                <a:sym typeface="Calibri"/>
              </a:rPr>
              <a:t>GCN edges out GAT on this benchmark — its simpler, fixed aggregation generalizes slightly better here, while GAT's added attention parameters likely need more epochs or tuning to pay off fully.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1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2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9E9E"/>
              </a:buClr>
              <a:buSzPts val="1300"/>
              <a:buFont typeface="Calibri"/>
              <a:buNone/>
            </a:pPr>
            <a:r>
              <a:rPr lang="en-US" sz="1300" b="1" i="0" u="none" strike="noStrike" cap="none" dirty="0">
                <a:solidFill>
                  <a:srgbClr val="2E9E9E"/>
                </a:solidFill>
                <a:latin typeface="Calibri"/>
                <a:ea typeface="Calibri"/>
                <a:cs typeface="Calibri"/>
                <a:sym typeface="Calibri"/>
              </a:rPr>
              <a:t>Hiruni · EXPLAINABILITY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2"/>
          <p:cNvSpPr/>
          <p:nvPr/>
        </p:nvSpPr>
        <p:spPr>
          <a:xfrm>
            <a:off x="548640" y="777240"/>
            <a:ext cx="9601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F2B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1A1F2B"/>
                </a:solidFill>
                <a:latin typeface="Calibri"/>
                <a:ea typeface="Calibri"/>
                <a:cs typeface="Calibri"/>
                <a:sym typeface="Calibri"/>
              </a:rPr>
              <a:t>Why Does the Model Decide This?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2"/>
          <p:cNvSpPr/>
          <p:nvPr/>
        </p:nvSpPr>
        <p:spPr>
          <a:xfrm>
            <a:off x="548640" y="1691640"/>
            <a:ext cx="5394960" cy="3794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12"/>
          <p:cNvSpPr/>
          <p:nvPr/>
        </p:nvSpPr>
        <p:spPr>
          <a:xfrm>
            <a:off x="822960" y="192024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t-SNE Embedding Visualization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2"/>
          <p:cNvSpPr/>
          <p:nvPr/>
        </p:nvSpPr>
        <p:spPr>
          <a:xfrm>
            <a:off x="822960" y="2331720"/>
            <a:ext cx="4846320" cy="2651760"/>
          </a:xfrm>
          <a:prstGeom prst="rect">
            <a:avLst/>
          </a:prstGeom>
          <a:solidFill>
            <a:srgbClr val="FBFCFD"/>
          </a:solidFill>
          <a:ln w="12700" cap="flat" cmpd="sng">
            <a:solidFill>
              <a:srgbClr val="E3E7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12"/>
          <p:cNvSpPr/>
          <p:nvPr/>
        </p:nvSpPr>
        <p:spPr>
          <a:xfrm>
            <a:off x="1554480" y="3246120"/>
            <a:ext cx="128016" cy="128016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2"/>
          <p:cNvSpPr/>
          <p:nvPr/>
        </p:nvSpPr>
        <p:spPr>
          <a:xfrm>
            <a:off x="1727370" y="3156107"/>
            <a:ext cx="128016" cy="128016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12"/>
          <p:cNvSpPr/>
          <p:nvPr/>
        </p:nvSpPr>
        <p:spPr>
          <a:xfrm>
            <a:off x="1868258" y="2930373"/>
            <a:ext cx="128016" cy="128016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12"/>
          <p:cNvSpPr/>
          <p:nvPr/>
        </p:nvSpPr>
        <p:spPr>
          <a:xfrm>
            <a:off x="1951063" y="2680023"/>
            <a:ext cx="128016" cy="128016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2"/>
          <p:cNvSpPr/>
          <p:nvPr/>
        </p:nvSpPr>
        <p:spPr>
          <a:xfrm>
            <a:off x="1960458" y="2528277"/>
            <a:ext cx="128016" cy="128016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12"/>
          <p:cNvSpPr/>
          <p:nvPr/>
        </p:nvSpPr>
        <p:spPr>
          <a:xfrm>
            <a:off x="1894703" y="2549826"/>
            <a:ext cx="128016" cy="128016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12"/>
          <p:cNvSpPr/>
          <p:nvPr/>
        </p:nvSpPr>
        <p:spPr>
          <a:xfrm>
            <a:off x="1765972" y="2734061"/>
            <a:ext cx="128016" cy="128016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12"/>
          <p:cNvSpPr/>
          <p:nvPr/>
        </p:nvSpPr>
        <p:spPr>
          <a:xfrm>
            <a:off x="1598092" y="2990305"/>
            <a:ext cx="128016" cy="128016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12"/>
          <p:cNvSpPr/>
          <p:nvPr/>
        </p:nvSpPr>
        <p:spPr>
          <a:xfrm>
            <a:off x="1422139" y="3192434"/>
            <a:ext cx="128016" cy="128016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12"/>
          <p:cNvSpPr/>
          <p:nvPr/>
        </p:nvSpPr>
        <p:spPr>
          <a:xfrm>
            <a:off x="1270683" y="3240962"/>
            <a:ext cx="128016" cy="128016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2"/>
          <p:cNvSpPr/>
          <p:nvPr/>
        </p:nvSpPr>
        <p:spPr>
          <a:xfrm>
            <a:off x="1171760" y="3112003"/>
            <a:ext cx="128016" cy="128016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12"/>
          <p:cNvSpPr/>
          <p:nvPr/>
        </p:nvSpPr>
        <p:spPr>
          <a:xfrm>
            <a:off x="1143681" y="2869031"/>
            <a:ext cx="128016" cy="128016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12"/>
          <p:cNvSpPr/>
          <p:nvPr/>
        </p:nvSpPr>
        <p:spPr>
          <a:xfrm>
            <a:off x="2929428" y="3466601"/>
            <a:ext cx="128016" cy="128016"/>
          </a:xfrm>
          <a:prstGeom prst="ellipse">
            <a:avLst/>
          </a:prstGeom>
          <a:solidFill>
            <a:srgbClr val="2E9E9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12"/>
          <p:cNvSpPr/>
          <p:nvPr/>
        </p:nvSpPr>
        <p:spPr>
          <a:xfrm>
            <a:off x="2990795" y="3215762"/>
            <a:ext cx="128016" cy="128016"/>
          </a:xfrm>
          <a:prstGeom prst="ellipse">
            <a:avLst/>
          </a:prstGeom>
          <a:solidFill>
            <a:srgbClr val="2E9E9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12"/>
          <p:cNvSpPr/>
          <p:nvPr/>
        </p:nvSpPr>
        <p:spPr>
          <a:xfrm>
            <a:off x="2976710" y="2991117"/>
            <a:ext cx="128016" cy="128016"/>
          </a:xfrm>
          <a:prstGeom prst="ellipse">
            <a:avLst/>
          </a:prstGeom>
          <a:solidFill>
            <a:srgbClr val="2E9E9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12"/>
          <p:cNvSpPr/>
          <p:nvPr/>
        </p:nvSpPr>
        <p:spPr>
          <a:xfrm>
            <a:off x="2889779" y="2903234"/>
            <a:ext cx="128016" cy="128016"/>
          </a:xfrm>
          <a:prstGeom prst="ellipse">
            <a:avLst/>
          </a:prstGeom>
          <a:solidFill>
            <a:srgbClr val="2E9E9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12"/>
          <p:cNvSpPr/>
          <p:nvPr/>
        </p:nvSpPr>
        <p:spPr>
          <a:xfrm>
            <a:off x="2746095" y="2995370"/>
            <a:ext cx="128016" cy="128016"/>
          </a:xfrm>
          <a:prstGeom prst="ellipse">
            <a:avLst/>
          </a:prstGeom>
          <a:solidFill>
            <a:srgbClr val="2E9E9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12"/>
          <p:cNvSpPr/>
          <p:nvPr/>
        </p:nvSpPr>
        <p:spPr>
          <a:xfrm>
            <a:off x="2572255" y="3222176"/>
            <a:ext cx="128016" cy="128016"/>
          </a:xfrm>
          <a:prstGeom prst="ellipse">
            <a:avLst/>
          </a:prstGeom>
          <a:solidFill>
            <a:srgbClr val="2E9E9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12"/>
          <p:cNvSpPr/>
          <p:nvPr/>
        </p:nvSpPr>
        <p:spPr>
          <a:xfrm>
            <a:off x="2400437" y="3472018"/>
            <a:ext cx="128016" cy="128016"/>
          </a:xfrm>
          <a:prstGeom prst="ellipse">
            <a:avLst/>
          </a:prstGeom>
          <a:solidFill>
            <a:srgbClr val="2E9E9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12"/>
          <p:cNvSpPr/>
          <p:nvPr/>
        </p:nvSpPr>
        <p:spPr>
          <a:xfrm>
            <a:off x="2262445" y="3621926"/>
            <a:ext cx="128016" cy="128016"/>
          </a:xfrm>
          <a:prstGeom prst="ellipse">
            <a:avLst/>
          </a:prstGeom>
          <a:solidFill>
            <a:srgbClr val="2E9E9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12"/>
          <p:cNvSpPr/>
          <p:nvPr/>
        </p:nvSpPr>
        <p:spPr>
          <a:xfrm>
            <a:off x="2183824" y="3598115"/>
            <a:ext cx="128016" cy="128016"/>
          </a:xfrm>
          <a:prstGeom prst="ellipse">
            <a:avLst/>
          </a:prstGeom>
          <a:solidFill>
            <a:srgbClr val="2E9E9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12"/>
          <p:cNvSpPr/>
          <p:nvPr/>
        </p:nvSpPr>
        <p:spPr>
          <a:xfrm>
            <a:off x="2179126" y="3412306"/>
            <a:ext cx="128016" cy="128016"/>
          </a:xfrm>
          <a:prstGeom prst="ellipse">
            <a:avLst/>
          </a:prstGeom>
          <a:solidFill>
            <a:srgbClr val="2E9E9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12"/>
          <p:cNvSpPr/>
          <p:nvPr/>
        </p:nvSpPr>
        <p:spPr>
          <a:xfrm>
            <a:off x="2249221" y="3155952"/>
            <a:ext cx="128016" cy="128016"/>
          </a:xfrm>
          <a:prstGeom prst="ellipse">
            <a:avLst/>
          </a:prstGeom>
          <a:solidFill>
            <a:srgbClr val="2E9E9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12"/>
          <p:cNvSpPr/>
          <p:nvPr/>
        </p:nvSpPr>
        <p:spPr>
          <a:xfrm>
            <a:off x="2381134" y="2955230"/>
            <a:ext cx="128016" cy="128016"/>
          </a:xfrm>
          <a:prstGeom prst="ellipse">
            <a:avLst/>
          </a:prstGeom>
          <a:solidFill>
            <a:srgbClr val="2E9E9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2"/>
          <p:cNvSpPr/>
          <p:nvPr/>
        </p:nvSpPr>
        <p:spPr>
          <a:xfrm>
            <a:off x="3986038" y="3505390"/>
            <a:ext cx="128016" cy="128016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2"/>
          <p:cNvSpPr/>
          <p:nvPr/>
        </p:nvSpPr>
        <p:spPr>
          <a:xfrm>
            <a:off x="3879460" y="3324345"/>
            <a:ext cx="128016" cy="128016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2"/>
          <p:cNvSpPr/>
          <p:nvPr/>
        </p:nvSpPr>
        <p:spPr>
          <a:xfrm>
            <a:off x="3723352" y="3307326"/>
            <a:ext cx="128016" cy="128016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12"/>
          <p:cNvSpPr/>
          <p:nvPr/>
        </p:nvSpPr>
        <p:spPr>
          <a:xfrm>
            <a:off x="3546610" y="3462711"/>
            <a:ext cx="128016" cy="128016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12"/>
          <p:cNvSpPr/>
          <p:nvPr/>
        </p:nvSpPr>
        <p:spPr>
          <a:xfrm>
            <a:off x="3381949" y="3714019"/>
            <a:ext cx="128016" cy="128016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12"/>
          <p:cNvSpPr/>
          <p:nvPr/>
        </p:nvSpPr>
        <p:spPr>
          <a:xfrm>
            <a:off x="3259851" y="3937558"/>
            <a:ext cx="128016" cy="128016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12"/>
          <p:cNvSpPr/>
          <p:nvPr/>
        </p:nvSpPr>
        <p:spPr>
          <a:xfrm>
            <a:off x="3202915" y="4023303"/>
            <a:ext cx="128016" cy="128016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12"/>
          <p:cNvSpPr/>
          <p:nvPr/>
        </p:nvSpPr>
        <p:spPr>
          <a:xfrm>
            <a:off x="3221681" y="3929050"/>
            <a:ext cx="128016" cy="128016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12"/>
          <p:cNvSpPr/>
          <p:nvPr/>
        </p:nvSpPr>
        <p:spPr>
          <a:xfrm>
            <a:off x="3312675" y="3701191"/>
            <a:ext cx="128016" cy="128016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12"/>
          <p:cNvSpPr/>
          <p:nvPr/>
        </p:nvSpPr>
        <p:spPr>
          <a:xfrm>
            <a:off x="3459055" y="3451877"/>
            <a:ext cx="128016" cy="128016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12"/>
          <p:cNvSpPr/>
          <p:nvPr/>
        </p:nvSpPr>
        <p:spPr>
          <a:xfrm>
            <a:off x="3633723" y="3303818"/>
            <a:ext cx="128016" cy="128016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12"/>
          <p:cNvSpPr/>
          <p:nvPr/>
        </p:nvSpPr>
        <p:spPr>
          <a:xfrm>
            <a:off x="3804348" y="3329890"/>
            <a:ext cx="128016" cy="128016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12"/>
          <p:cNvSpPr/>
          <p:nvPr/>
        </p:nvSpPr>
        <p:spPr>
          <a:xfrm>
            <a:off x="4698648" y="3684120"/>
            <a:ext cx="128016" cy="128016"/>
          </a:xfrm>
          <a:prstGeom prst="ellipse">
            <a:avLst/>
          </a:prstGeom>
          <a:solidFill>
            <a:srgbClr val="D969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2"/>
          <p:cNvSpPr/>
          <p:nvPr/>
        </p:nvSpPr>
        <p:spPr>
          <a:xfrm>
            <a:off x="4522114" y="3739321"/>
            <a:ext cx="128016" cy="128016"/>
          </a:xfrm>
          <a:prstGeom prst="ellipse">
            <a:avLst/>
          </a:prstGeom>
          <a:solidFill>
            <a:srgbClr val="D969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12"/>
          <p:cNvSpPr/>
          <p:nvPr/>
        </p:nvSpPr>
        <p:spPr>
          <a:xfrm>
            <a:off x="4367508" y="3945576"/>
            <a:ext cx="128016" cy="128016"/>
          </a:xfrm>
          <a:prstGeom prst="ellipse">
            <a:avLst/>
          </a:prstGeom>
          <a:solidFill>
            <a:srgbClr val="D969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12"/>
          <p:cNvSpPr/>
          <p:nvPr/>
        </p:nvSpPr>
        <p:spPr>
          <a:xfrm>
            <a:off x="4263450" y="4201368"/>
            <a:ext cx="128016" cy="128016"/>
          </a:xfrm>
          <a:prstGeom prst="ellipse">
            <a:avLst/>
          </a:prstGeom>
          <a:solidFill>
            <a:srgbClr val="D969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12"/>
          <p:cNvSpPr/>
          <p:nvPr/>
        </p:nvSpPr>
        <p:spPr>
          <a:xfrm>
            <a:off x="4229201" y="4380796"/>
            <a:ext cx="128016" cy="128016"/>
          </a:xfrm>
          <a:prstGeom prst="ellipse">
            <a:avLst/>
          </a:prstGeom>
          <a:solidFill>
            <a:srgbClr val="D969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12"/>
          <p:cNvSpPr/>
          <p:nvPr/>
        </p:nvSpPr>
        <p:spPr>
          <a:xfrm>
            <a:off x="4271101" y="4395548"/>
            <a:ext cx="128016" cy="128016"/>
          </a:xfrm>
          <a:prstGeom prst="ellipse">
            <a:avLst/>
          </a:prstGeom>
          <a:solidFill>
            <a:srgbClr val="D969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12"/>
          <p:cNvSpPr/>
          <p:nvPr/>
        </p:nvSpPr>
        <p:spPr>
          <a:xfrm>
            <a:off x="4381394" y="4238362"/>
            <a:ext cx="128016" cy="128016"/>
          </a:xfrm>
          <a:prstGeom prst="ellipse">
            <a:avLst/>
          </a:prstGeom>
          <a:solidFill>
            <a:srgbClr val="D969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12"/>
          <p:cNvSpPr/>
          <p:nvPr/>
        </p:nvSpPr>
        <p:spPr>
          <a:xfrm>
            <a:off x="4539664" y="3986604"/>
            <a:ext cx="128016" cy="128016"/>
          </a:xfrm>
          <a:prstGeom prst="ellipse">
            <a:avLst/>
          </a:prstGeom>
          <a:solidFill>
            <a:srgbClr val="D969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12"/>
          <p:cNvSpPr/>
          <p:nvPr/>
        </p:nvSpPr>
        <p:spPr>
          <a:xfrm>
            <a:off x="4716614" y="3764190"/>
            <a:ext cx="128016" cy="128016"/>
          </a:xfrm>
          <a:prstGeom prst="ellipse">
            <a:avLst/>
          </a:prstGeom>
          <a:solidFill>
            <a:srgbClr val="D969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2"/>
          <p:cNvSpPr/>
          <p:nvPr/>
        </p:nvSpPr>
        <p:spPr>
          <a:xfrm>
            <a:off x="4879490" y="3680589"/>
            <a:ext cx="128016" cy="128016"/>
          </a:xfrm>
          <a:prstGeom prst="ellipse">
            <a:avLst/>
          </a:prstGeom>
          <a:solidFill>
            <a:srgbClr val="D969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12"/>
          <p:cNvSpPr/>
          <p:nvPr/>
        </p:nvSpPr>
        <p:spPr>
          <a:xfrm>
            <a:off x="4998142" y="3776950"/>
            <a:ext cx="128016" cy="128016"/>
          </a:xfrm>
          <a:prstGeom prst="ellipse">
            <a:avLst/>
          </a:prstGeom>
          <a:solidFill>
            <a:srgbClr val="D969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12"/>
          <p:cNvSpPr/>
          <p:nvPr/>
        </p:nvSpPr>
        <p:spPr>
          <a:xfrm>
            <a:off x="5050607" y="4005845"/>
            <a:ext cx="128016" cy="128016"/>
          </a:xfrm>
          <a:prstGeom prst="ellipse">
            <a:avLst/>
          </a:prstGeom>
          <a:solidFill>
            <a:srgbClr val="D969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12"/>
          <p:cNvSpPr/>
          <p:nvPr/>
        </p:nvSpPr>
        <p:spPr>
          <a:xfrm>
            <a:off x="822960" y="5029200"/>
            <a:ext cx="4846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Clusters by category emerge in embedding space — even though clustering was never a direct training objective.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2"/>
          <p:cNvSpPr/>
          <p:nvPr/>
        </p:nvSpPr>
        <p:spPr>
          <a:xfrm>
            <a:off x="6217920" y="1691640"/>
            <a:ext cx="5394960" cy="3794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12"/>
          <p:cNvSpPr/>
          <p:nvPr/>
        </p:nvSpPr>
        <p:spPr>
          <a:xfrm>
            <a:off x="6492240" y="192024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GAT Attention Weights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2" name="Google Shape;262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92240" y="2331720"/>
            <a:ext cx="4846320" cy="265176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12"/>
          <p:cNvSpPr/>
          <p:nvPr/>
        </p:nvSpPr>
        <p:spPr>
          <a:xfrm>
            <a:off x="6492240" y="5029200"/>
            <a:ext cx="4846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Not all citation neighbors are equal — GAT learns to weight some far more heavily than others.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3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9E9E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2E9E9E"/>
                </a:solidFill>
                <a:latin typeface="Calibri"/>
                <a:ea typeface="Calibri"/>
                <a:cs typeface="Calibri"/>
                <a:sym typeface="Calibri"/>
              </a:rPr>
              <a:t>DELIVERY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3"/>
          <p:cNvSpPr/>
          <p:nvPr/>
        </p:nvSpPr>
        <p:spPr>
          <a:xfrm>
            <a:off x="548640" y="77724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Graph Intelligence Dashboard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3"/>
          <p:cNvSpPr/>
          <p:nvPr/>
        </p:nvSpPr>
        <p:spPr>
          <a:xfrm>
            <a:off x="548640" y="137160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AB4CC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AAB4CC"/>
                </a:solidFill>
                <a:latin typeface="Calibri"/>
                <a:ea typeface="Calibri"/>
                <a:cs typeface="Calibri"/>
                <a:sym typeface="Calibri"/>
              </a:rPr>
              <a:t>An interactive Streamlit app bringing every result into one place.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3"/>
          <p:cNvSpPr/>
          <p:nvPr/>
        </p:nvSpPr>
        <p:spPr>
          <a:xfrm>
            <a:off x="548640" y="2176272"/>
            <a:ext cx="109728" cy="109728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13"/>
          <p:cNvSpPr/>
          <p:nvPr/>
        </p:nvSpPr>
        <p:spPr>
          <a:xfrm>
            <a:off x="822960" y="210312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Live graph statistics — nodes, edges, density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3"/>
          <p:cNvSpPr/>
          <p:nvPr/>
        </p:nvSpPr>
        <p:spPr>
          <a:xfrm>
            <a:off x="548640" y="2770632"/>
            <a:ext cx="109728" cy="109728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13"/>
          <p:cNvSpPr/>
          <p:nvPr/>
        </p:nvSpPr>
        <p:spPr>
          <a:xfrm>
            <a:off x="822960" y="269748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 comparison table &amp; chart (GCN vs GAT)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3"/>
          <p:cNvSpPr/>
          <p:nvPr/>
        </p:nvSpPr>
        <p:spPr>
          <a:xfrm>
            <a:off x="548640" y="3364992"/>
            <a:ext cx="109728" cy="109728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13"/>
          <p:cNvSpPr/>
          <p:nvPr/>
        </p:nvSpPr>
        <p:spPr>
          <a:xfrm>
            <a:off x="822960" y="329184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Node-by-node prediction explorer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3"/>
          <p:cNvSpPr/>
          <p:nvPr/>
        </p:nvSpPr>
        <p:spPr>
          <a:xfrm>
            <a:off x="548640" y="3959352"/>
            <a:ext cx="109728" cy="109728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13"/>
          <p:cNvSpPr/>
          <p:nvPr/>
        </p:nvSpPr>
        <p:spPr>
          <a:xfrm>
            <a:off x="822960" y="388620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t-SNE embedding visualization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3"/>
          <p:cNvSpPr/>
          <p:nvPr/>
        </p:nvSpPr>
        <p:spPr>
          <a:xfrm>
            <a:off x="6400800" y="2011680"/>
            <a:ext cx="5212080" cy="4023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13"/>
          <p:cNvSpPr/>
          <p:nvPr/>
        </p:nvSpPr>
        <p:spPr>
          <a:xfrm>
            <a:off x="6675120" y="2240280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C33"/>
              </a:buClr>
              <a:buSzPts val="1200"/>
              <a:buFont typeface="Consolas"/>
              <a:buNone/>
            </a:pPr>
            <a:r>
              <a:rPr lang="en-US" sz="1200" b="1" i="0" u="none" strike="noStrike" cap="none">
                <a:solidFill>
                  <a:srgbClr val="111C33"/>
                </a:solidFill>
                <a:latin typeface="Consolas"/>
                <a:ea typeface="Consolas"/>
                <a:cs typeface="Consolas"/>
                <a:sym typeface="Consolas"/>
              </a:rPr>
              <a:t>streamlit run app.py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3"/>
          <p:cNvSpPr/>
          <p:nvPr/>
        </p:nvSpPr>
        <p:spPr>
          <a:xfrm>
            <a:off x="6675120" y="2697480"/>
            <a:ext cx="4663440" cy="50292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13"/>
          <p:cNvSpPr/>
          <p:nvPr/>
        </p:nvSpPr>
        <p:spPr>
          <a:xfrm>
            <a:off x="6812280" y="2834640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F2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1A1F2B"/>
                </a:solidFill>
                <a:latin typeface="Calibri"/>
                <a:ea typeface="Calibri"/>
                <a:cs typeface="Calibri"/>
                <a:sym typeface="Calibri"/>
              </a:rPr>
              <a:t>169,343 nodes   ·   1,166,243 edges   ·   density 0.000041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3"/>
          <p:cNvSpPr/>
          <p:nvPr/>
        </p:nvSpPr>
        <p:spPr>
          <a:xfrm>
            <a:off x="6675120" y="3337560"/>
            <a:ext cx="4663440" cy="155448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13"/>
          <p:cNvSpPr/>
          <p:nvPr/>
        </p:nvSpPr>
        <p:spPr>
          <a:xfrm>
            <a:off x="6812280" y="3474720"/>
            <a:ext cx="438912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F2B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1A1F2B"/>
                </a:solidFill>
                <a:latin typeface="Consolas"/>
                <a:ea typeface="Consolas"/>
                <a:cs typeface="Consolas"/>
                <a:sym typeface="Consolas"/>
              </a:rPr>
              <a:t>Model     Accuracy   F1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F2B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1A1F2B"/>
                </a:solidFill>
                <a:latin typeface="Consolas"/>
                <a:ea typeface="Consolas"/>
                <a:cs typeface="Consolas"/>
                <a:sym typeface="Consolas"/>
              </a:rPr>
              <a:t>GCN         52.5%     28.4%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F2B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1A1F2B"/>
                </a:solidFill>
                <a:latin typeface="Consolas"/>
                <a:ea typeface="Consolas"/>
                <a:cs typeface="Consolas"/>
                <a:sym typeface="Consolas"/>
              </a:rPr>
              <a:t>GAT         51.3%     22.4%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3"/>
          <p:cNvSpPr/>
          <p:nvPr/>
        </p:nvSpPr>
        <p:spPr>
          <a:xfrm>
            <a:off x="6675120" y="5029200"/>
            <a:ext cx="4663440" cy="9144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13"/>
          <p:cNvSpPr/>
          <p:nvPr/>
        </p:nvSpPr>
        <p:spPr>
          <a:xfrm>
            <a:off x="6812280" y="5257800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8A5A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1F8A5A"/>
                </a:solidFill>
                <a:latin typeface="Calibri"/>
                <a:ea typeface="Calibri"/>
                <a:cs typeface="Calibri"/>
                <a:sym typeface="Calibri"/>
              </a:rPr>
              <a:t>[OK] Node #0 — Correct prediction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4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9E9E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2E9E9E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4"/>
          <p:cNvSpPr/>
          <p:nvPr/>
        </p:nvSpPr>
        <p:spPr>
          <a:xfrm>
            <a:off x="548640" y="77724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F2B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1A1F2B"/>
                </a:solidFill>
                <a:latin typeface="Calibri"/>
                <a:ea typeface="Calibri"/>
                <a:cs typeface="Calibri"/>
                <a:sym typeface="Calibri"/>
              </a:rPr>
              <a:t>What We Learned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4"/>
          <p:cNvSpPr/>
          <p:nvPr/>
        </p:nvSpPr>
        <p:spPr>
          <a:xfrm>
            <a:off x="548640" y="1600200"/>
            <a:ext cx="5394960" cy="237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350"/>
              <a:buFont typeface="Calibri"/>
              <a:buChar char="•"/>
            </a:pPr>
            <a:r>
              <a:rPr lang="en-US" sz="1350" b="0" i="0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Both models classify papers well above the ~2.5% random baseline for 40 classes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Clr>
                <a:srgbClr val="5B6472"/>
              </a:buClr>
              <a:buSzPts val="1350"/>
              <a:buFont typeface="Calibri"/>
              <a:buChar char="•"/>
            </a:pPr>
            <a:r>
              <a:rPr lang="en-US" sz="1350" b="0" i="0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GCN's simpler, fixed aggregation slightly outperformed GAT on this benchmark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Clr>
                <a:srgbClr val="5B6472"/>
              </a:buClr>
              <a:buSzPts val="1350"/>
              <a:buFont typeface="Calibri"/>
              <a:buChar char="•"/>
            </a:pPr>
            <a:r>
              <a:rPr lang="en-US" sz="1350" b="0" i="0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Embedding and attention analysis confirm the model's decisions are structurally meaningful, not a black box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4"/>
          <p:cNvSpPr/>
          <p:nvPr/>
        </p:nvSpPr>
        <p:spPr>
          <a:xfrm>
            <a:off x="6263640" y="1600200"/>
            <a:ext cx="5349240" cy="35661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14"/>
          <p:cNvSpPr/>
          <p:nvPr/>
        </p:nvSpPr>
        <p:spPr>
          <a:xfrm>
            <a:off x="6537960" y="182880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9E9E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2E9E9E"/>
                </a:solidFill>
                <a:latin typeface="Calibri"/>
                <a:ea typeface="Calibri"/>
                <a:cs typeface="Calibri"/>
                <a:sym typeface="Calibri"/>
              </a:rPr>
              <a:t>Future Work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4"/>
          <p:cNvSpPr/>
          <p:nvPr/>
        </p:nvSpPr>
        <p:spPr>
          <a:xfrm>
            <a:off x="6537960" y="2286000"/>
            <a:ext cx="475488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DCE3F0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DCE3F0"/>
                </a:solidFill>
                <a:latin typeface="Calibri"/>
                <a:ea typeface="Calibri"/>
                <a:cs typeface="Calibri"/>
                <a:sym typeface="Calibri"/>
              </a:rPr>
              <a:t>Deeper hyperparameter search across layers and dropout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Clr>
                <a:srgbClr val="DCE3F0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DCE3F0"/>
                </a:solidFill>
                <a:latin typeface="Calibri"/>
                <a:ea typeface="Calibri"/>
                <a:cs typeface="Calibri"/>
                <a:sym typeface="Calibri"/>
              </a:rPr>
              <a:t>A third architecture (GIN) for the bonus marks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Clr>
                <a:srgbClr val="DCE3F0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DCE3F0"/>
                </a:solidFill>
                <a:latin typeface="Calibri"/>
                <a:ea typeface="Calibri"/>
                <a:cs typeface="Calibri"/>
                <a:sym typeface="Calibri"/>
              </a:rPr>
              <a:t>GNNExplainer-based subgraph explanations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Clr>
                <a:srgbClr val="DCE3F0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DCE3F0"/>
                </a:solidFill>
                <a:latin typeface="Calibri"/>
                <a:ea typeface="Calibri"/>
                <a:cs typeface="Calibri"/>
                <a:sym typeface="Calibri"/>
              </a:rPr>
              <a:t>Larger-scale attention analysis across many nodes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5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9E9E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2E9E9E"/>
                </a:solidFill>
                <a:latin typeface="Calibri"/>
                <a:ea typeface="Calibri"/>
                <a:cs typeface="Calibri"/>
                <a:sym typeface="Calibri"/>
              </a:rPr>
              <a:t>TEAM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5"/>
          <p:cNvSpPr/>
          <p:nvPr/>
        </p:nvSpPr>
        <p:spPr>
          <a:xfrm>
            <a:off x="548640" y="77724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F2B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1A1F2B"/>
                </a:solidFill>
                <a:latin typeface="Calibri"/>
                <a:ea typeface="Calibri"/>
                <a:cs typeface="Calibri"/>
                <a:sym typeface="Calibri"/>
              </a:rPr>
              <a:t>Individual Contributions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5"/>
          <p:cNvSpPr/>
          <p:nvPr/>
        </p:nvSpPr>
        <p:spPr>
          <a:xfrm>
            <a:off x="548640" y="1691640"/>
            <a:ext cx="2606040" cy="3566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15"/>
          <p:cNvSpPr/>
          <p:nvPr/>
        </p:nvSpPr>
        <p:spPr>
          <a:xfrm>
            <a:off x="822960" y="201168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15"/>
          <p:cNvSpPr/>
          <p:nvPr/>
        </p:nvSpPr>
        <p:spPr>
          <a:xfrm>
            <a:off x="822960" y="20116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M1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5"/>
          <p:cNvSpPr/>
          <p:nvPr/>
        </p:nvSpPr>
        <p:spPr>
          <a:xfrm>
            <a:off x="777240" y="2651760"/>
            <a:ext cx="2148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F2B"/>
              </a:buClr>
              <a:buSzPts val="1600"/>
              <a:buFont typeface="Calibri"/>
              <a:buNone/>
            </a:pPr>
            <a:r>
              <a:rPr lang="en-US" sz="1600" b="1" dirty="0">
                <a:solidFill>
                  <a:srgbClr val="1A1F2B"/>
                </a:solidFill>
                <a:latin typeface="Calibri"/>
                <a:ea typeface="Calibri"/>
                <a:cs typeface="Calibri"/>
                <a:sym typeface="Calibri"/>
              </a:rPr>
              <a:t>Ishanka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5"/>
          <p:cNvSpPr/>
          <p:nvPr/>
        </p:nvSpPr>
        <p:spPr>
          <a:xfrm>
            <a:off x="777240" y="3154680"/>
            <a:ext cx="2148840" cy="1920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Tensor fundamentals notebook, dataset setup, presentation coordination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5"/>
          <p:cNvSpPr/>
          <p:nvPr/>
        </p:nvSpPr>
        <p:spPr>
          <a:xfrm>
            <a:off x="3383280" y="1691640"/>
            <a:ext cx="2606040" cy="3566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15"/>
          <p:cNvSpPr/>
          <p:nvPr/>
        </p:nvSpPr>
        <p:spPr>
          <a:xfrm>
            <a:off x="3657600" y="2011680"/>
            <a:ext cx="502920" cy="502920"/>
          </a:xfrm>
          <a:prstGeom prst="ellipse">
            <a:avLst/>
          </a:prstGeom>
          <a:solidFill>
            <a:srgbClr val="2E9E9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15"/>
          <p:cNvSpPr/>
          <p:nvPr/>
        </p:nvSpPr>
        <p:spPr>
          <a:xfrm>
            <a:off x="3657600" y="20116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M2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5"/>
          <p:cNvSpPr/>
          <p:nvPr/>
        </p:nvSpPr>
        <p:spPr>
          <a:xfrm>
            <a:off x="3611880" y="2651760"/>
            <a:ext cx="2148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F2B"/>
              </a:buClr>
              <a:buSzPts val="1600"/>
              <a:buFont typeface="Calibri"/>
              <a:buNone/>
            </a:pPr>
            <a:r>
              <a:rPr lang="en-US" sz="1600" b="1" i="0" u="none" strike="noStrike" cap="none" dirty="0">
                <a:solidFill>
                  <a:srgbClr val="1A1F2B"/>
                </a:solidFill>
                <a:latin typeface="Calibri"/>
                <a:ea typeface="Calibri"/>
                <a:cs typeface="Calibri"/>
                <a:sym typeface="Calibri"/>
              </a:rPr>
              <a:t>Kalana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5"/>
          <p:cNvSpPr/>
          <p:nvPr/>
        </p:nvSpPr>
        <p:spPr>
          <a:xfrm>
            <a:off x="3611880" y="3154680"/>
            <a:ext cx="2148840" cy="1920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Graph representation &amp; analysis, data preparation, split justification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5"/>
          <p:cNvSpPr/>
          <p:nvPr/>
        </p:nvSpPr>
        <p:spPr>
          <a:xfrm>
            <a:off x="6217920" y="1691640"/>
            <a:ext cx="2606040" cy="3566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15"/>
          <p:cNvSpPr/>
          <p:nvPr/>
        </p:nvSpPr>
        <p:spPr>
          <a:xfrm>
            <a:off x="6492240" y="2011680"/>
            <a:ext cx="502920" cy="502920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15"/>
          <p:cNvSpPr/>
          <p:nvPr/>
        </p:nvSpPr>
        <p:spPr>
          <a:xfrm>
            <a:off x="6492240" y="20116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M3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5"/>
          <p:cNvSpPr/>
          <p:nvPr/>
        </p:nvSpPr>
        <p:spPr>
          <a:xfrm>
            <a:off x="6446520" y="2651760"/>
            <a:ext cx="2148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F2B"/>
              </a:buClr>
              <a:buSzPts val="1600"/>
              <a:buFont typeface="Calibri"/>
              <a:buNone/>
            </a:pPr>
            <a:r>
              <a:rPr lang="en-US" sz="1600" b="1" i="0" u="none" strike="noStrike" cap="none" dirty="0">
                <a:solidFill>
                  <a:srgbClr val="1A1F2B"/>
                </a:solidFill>
                <a:latin typeface="Calibri"/>
                <a:ea typeface="Calibri"/>
                <a:cs typeface="Calibri"/>
                <a:sym typeface="Calibri"/>
              </a:rPr>
              <a:t>Kosala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5"/>
          <p:cNvSpPr/>
          <p:nvPr/>
        </p:nvSpPr>
        <p:spPr>
          <a:xfrm>
            <a:off x="6446520" y="3154680"/>
            <a:ext cx="2148840" cy="1920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GNN architecture design (GCN &amp; GAT), training loop, hyperparameter tuning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5"/>
          <p:cNvSpPr/>
          <p:nvPr/>
        </p:nvSpPr>
        <p:spPr>
          <a:xfrm>
            <a:off x="9052560" y="1691640"/>
            <a:ext cx="2606040" cy="3566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15"/>
          <p:cNvSpPr/>
          <p:nvPr/>
        </p:nvSpPr>
        <p:spPr>
          <a:xfrm>
            <a:off x="9326880" y="2011680"/>
            <a:ext cx="502920" cy="502920"/>
          </a:xfrm>
          <a:prstGeom prst="ellipse">
            <a:avLst/>
          </a:prstGeom>
          <a:solidFill>
            <a:srgbClr val="D969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15"/>
          <p:cNvSpPr/>
          <p:nvPr/>
        </p:nvSpPr>
        <p:spPr>
          <a:xfrm>
            <a:off x="9326880" y="20116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M4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5"/>
          <p:cNvSpPr/>
          <p:nvPr/>
        </p:nvSpPr>
        <p:spPr>
          <a:xfrm>
            <a:off x="9281160" y="2651760"/>
            <a:ext cx="2148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F2B"/>
              </a:buClr>
              <a:buSzPts val="1600"/>
              <a:buFont typeface="Calibri"/>
              <a:buNone/>
            </a:pPr>
            <a:r>
              <a:rPr lang="en-US" sz="1600" b="1" i="0" u="none" strike="noStrike" cap="none" dirty="0">
                <a:solidFill>
                  <a:srgbClr val="1A1F2B"/>
                </a:solidFill>
                <a:latin typeface="Calibri"/>
                <a:ea typeface="Calibri"/>
                <a:cs typeface="Calibri"/>
                <a:sym typeface="Calibri"/>
              </a:rPr>
              <a:t>Hiruni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5"/>
          <p:cNvSpPr/>
          <p:nvPr/>
        </p:nvSpPr>
        <p:spPr>
          <a:xfrm>
            <a:off x="9281160" y="3154680"/>
            <a:ext cx="2148840" cy="1920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Model evaluation, explainability analysis, Streamlit dashboard, report compilation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5" name="Google Shape;335;p16"/>
          <p:cNvCxnSpPr/>
          <p:nvPr/>
        </p:nvCxnSpPr>
        <p:spPr>
          <a:xfrm rot="10800000" flipH="1">
            <a:off x="1097280" y="731520"/>
            <a:ext cx="822960" cy="365760"/>
          </a:xfrm>
          <a:prstGeom prst="straightConnector1">
            <a:avLst/>
          </a:prstGeom>
          <a:noFill/>
          <a:ln w="19050" cap="flat" cmpd="sng">
            <a:solidFill>
              <a:srgbClr val="3C4E7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36" name="Google Shape;336;p16"/>
          <p:cNvCxnSpPr/>
          <p:nvPr/>
        </p:nvCxnSpPr>
        <p:spPr>
          <a:xfrm>
            <a:off x="1920240" y="731520"/>
            <a:ext cx="457200" cy="822960"/>
          </a:xfrm>
          <a:prstGeom prst="straightConnector1">
            <a:avLst/>
          </a:prstGeom>
          <a:noFill/>
          <a:ln w="19050" cap="flat" cmpd="sng">
            <a:solidFill>
              <a:srgbClr val="3C4E7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37" name="Google Shape;337;p16"/>
          <p:cNvCxnSpPr/>
          <p:nvPr/>
        </p:nvCxnSpPr>
        <p:spPr>
          <a:xfrm flipH="1">
            <a:off x="1371600" y="731520"/>
            <a:ext cx="548640" cy="1280160"/>
          </a:xfrm>
          <a:prstGeom prst="straightConnector1">
            <a:avLst/>
          </a:prstGeom>
          <a:noFill/>
          <a:ln w="19050" cap="flat" cmpd="sng">
            <a:solidFill>
              <a:srgbClr val="3C4E7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38" name="Google Shape;338;p16"/>
          <p:cNvCxnSpPr/>
          <p:nvPr/>
        </p:nvCxnSpPr>
        <p:spPr>
          <a:xfrm rot="10800000">
            <a:off x="640080" y="1737360"/>
            <a:ext cx="731520" cy="274320"/>
          </a:xfrm>
          <a:prstGeom prst="straightConnector1">
            <a:avLst/>
          </a:prstGeom>
          <a:noFill/>
          <a:ln w="19050" cap="flat" cmpd="sng">
            <a:solidFill>
              <a:srgbClr val="3C4E7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39" name="Google Shape;339;p16"/>
          <p:cNvCxnSpPr/>
          <p:nvPr/>
        </p:nvCxnSpPr>
        <p:spPr>
          <a:xfrm rot="10800000" flipH="1">
            <a:off x="1920240" y="457200"/>
            <a:ext cx="731520" cy="274320"/>
          </a:xfrm>
          <a:prstGeom prst="straightConnector1">
            <a:avLst/>
          </a:prstGeom>
          <a:noFill/>
          <a:ln w="19050" cap="flat" cmpd="sng">
            <a:solidFill>
              <a:srgbClr val="3C4E7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0" name="Google Shape;340;p16"/>
          <p:cNvCxnSpPr/>
          <p:nvPr/>
        </p:nvCxnSpPr>
        <p:spPr>
          <a:xfrm rot="10800000" flipH="1">
            <a:off x="2377440" y="457200"/>
            <a:ext cx="274320" cy="1097280"/>
          </a:xfrm>
          <a:prstGeom prst="straightConnector1">
            <a:avLst/>
          </a:prstGeom>
          <a:noFill/>
          <a:ln w="19050" cap="flat" cmpd="sng">
            <a:solidFill>
              <a:srgbClr val="3C4E7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41" name="Google Shape;341;p16"/>
          <p:cNvSpPr/>
          <p:nvPr/>
        </p:nvSpPr>
        <p:spPr>
          <a:xfrm>
            <a:off x="1014984" y="1014984"/>
            <a:ext cx="164592" cy="164592"/>
          </a:xfrm>
          <a:prstGeom prst="ellipse">
            <a:avLst/>
          </a:prstGeom>
          <a:solidFill>
            <a:srgbClr val="2E9E9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16"/>
          <p:cNvSpPr/>
          <p:nvPr/>
        </p:nvSpPr>
        <p:spPr>
          <a:xfrm>
            <a:off x="1837944" y="649224"/>
            <a:ext cx="164592" cy="164592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16"/>
          <p:cNvSpPr/>
          <p:nvPr/>
        </p:nvSpPr>
        <p:spPr>
          <a:xfrm>
            <a:off x="2295144" y="1472184"/>
            <a:ext cx="164592" cy="164592"/>
          </a:xfrm>
          <a:prstGeom prst="ellipse">
            <a:avLst/>
          </a:prstGeom>
          <a:solidFill>
            <a:srgbClr val="2E9E9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16"/>
          <p:cNvSpPr/>
          <p:nvPr/>
        </p:nvSpPr>
        <p:spPr>
          <a:xfrm>
            <a:off x="1289304" y="1929384"/>
            <a:ext cx="164592" cy="164592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16"/>
          <p:cNvSpPr/>
          <p:nvPr/>
        </p:nvSpPr>
        <p:spPr>
          <a:xfrm>
            <a:off x="557784" y="1655064"/>
            <a:ext cx="164592" cy="164592"/>
          </a:xfrm>
          <a:prstGeom prst="ellipse">
            <a:avLst/>
          </a:prstGeom>
          <a:solidFill>
            <a:srgbClr val="2E9E9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16"/>
          <p:cNvSpPr/>
          <p:nvPr/>
        </p:nvSpPr>
        <p:spPr>
          <a:xfrm>
            <a:off x="2569464" y="374904"/>
            <a:ext cx="164592" cy="164592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16"/>
          <p:cNvSpPr/>
          <p:nvPr/>
        </p:nvSpPr>
        <p:spPr>
          <a:xfrm>
            <a:off x="822960" y="2743200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lang="en-US" sz="4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6"/>
          <p:cNvSpPr/>
          <p:nvPr/>
        </p:nvSpPr>
        <p:spPr>
          <a:xfrm>
            <a:off x="822960" y="361188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9E9E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2E9E9E"/>
                </a:solidFill>
                <a:latin typeface="Calibri"/>
                <a:ea typeface="Calibri"/>
                <a:cs typeface="Calibri"/>
                <a:sym typeface="Calibri"/>
              </a:rPr>
              <a:t>Questions &amp; Discussion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6"/>
          <p:cNvSpPr/>
          <p:nvPr/>
        </p:nvSpPr>
        <p:spPr>
          <a:xfrm>
            <a:off x="822960" y="60350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92AC"/>
              </a:buClr>
              <a:buSzPts val="1200"/>
              <a:buFont typeface="Calibri"/>
              <a:buNone/>
            </a:pPr>
            <a:r>
              <a:rPr lang="en-US" sz="1200" b="0" i="0" u="none" strike="noStrike" cap="none" dirty="0">
                <a:solidFill>
                  <a:srgbClr val="8892AC"/>
                </a:solidFill>
                <a:latin typeface="Calibri"/>
                <a:ea typeface="Calibri"/>
                <a:cs typeface="Calibri"/>
                <a:sym typeface="Calibri"/>
              </a:rPr>
              <a:t>CCS4354 Tensors and Graphs  ·  SLTC Research University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2797</TotalTime>
  <Words>951</Words>
  <Application>Microsoft Office PowerPoint</Application>
  <PresentationFormat>Widescreen</PresentationFormat>
  <Paragraphs>177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ISHANKA</dc:creator>
  <cp:lastModifiedBy>Ishanka Office</cp:lastModifiedBy>
  <cp:revision>5</cp:revision>
  <dcterms:modified xsi:type="dcterms:W3CDTF">2026-08-19T06:16:21Z</dcterms:modified>
</cp:coreProperties>
</file>